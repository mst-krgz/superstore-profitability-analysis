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webextensions/webextension1.xml" ContentType="application/vnd.ms-office.webextension+xml"/>
  <Override PartName="/ppt/notesSlides/notesSlide7.xml" ContentType="application/vnd.openxmlformats-officedocument.presentationml.notesSlide+xml"/>
  <Override PartName="/ppt/webextensions/webextension2.xml" ContentType="application/vnd.ms-office.webextension+xml"/>
  <Override PartName="/ppt/notesSlides/notesSlide8.xml" ContentType="application/vnd.openxmlformats-officedocument.presentationml.notesSlide+xml"/>
  <Override PartName="/ppt/webextensions/webextension3.xml" ContentType="application/vnd.ms-office.webextension+xml"/>
  <Override PartName="/ppt/notesSlides/notesSlide9.xml" ContentType="application/vnd.openxmlformats-officedocument.presentationml.notesSlide+xml"/>
  <Override PartName="/ppt/webextensions/webextension4.xml" ContentType="application/vnd.ms-office.webextension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führung (Mesut)" id="{7583FC2F-C6D6-E393-DECB-16C84FB82970}">
          <p14:sldIdLst>
            <p14:sldId id="256"/>
            <p14:sldId id="257"/>
            <p14:sldId id="258"/>
          </p14:sldIdLst>
        </p14:section>
        <p14:section name="KNIME (Erol, Vivien)" id="{E4203037-C5B2-EAC8-9708-3B64ADB38E43}">
          <p14:sldIdLst>
            <p14:sldId id="259"/>
            <p14:sldId id="260"/>
          </p14:sldIdLst>
        </p14:section>
        <p14:section name="Power BI (Gözde)" id="{CE2A6C5F-AA48-C2B6-443D-A7BB84ED4109}">
          <p14:sldIdLst>
            <p14:sldId id="261"/>
            <p14:sldId id="262"/>
            <p14:sldId id="263"/>
          </p14:sldIdLst>
        </p14:section>
        <p14:section name="Empfehlungen &amp; Fazit (Mesut)" id="{D73B9F12-82EE-F6B5-3FC7-1C5DE6AF0C65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71706" autoAdjust="0"/>
  </p:normalViewPr>
  <p:slideViewPr>
    <p:cSldViewPr snapToGrid="0" snapToObjects="1">
      <p:cViewPr varScale="1">
        <p:scale>
          <a:sx n="98" d="100"/>
          <a:sy n="98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638"/>
                </a:solidFill>
                <a:latin typeface="+mn-lt"/>
              </a:defRPr>
            </a:pPr>
            <a:r>
              <a:rPr lang="de-DE" sz="1400" b="0" i="0" u="none" strike="noStrike">
                <a:solidFill>
                  <a:srgbClr val="102638"/>
                </a:solidFill>
                <a:latin typeface="+mn-lt"/>
              </a:rPr>
              <a:t>Anteil Verlustpositionen je Rabattstufe (in %)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Rabatt bis 20 %</c:v>
                </c:pt>
              </c:strCache>
            </c:strRef>
          </c:tx>
          <c:spPr>
            <a:solidFill>
              <a:srgbClr val="159694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30</c:v>
                </c:pt>
                <c:pt idx="5">
                  <c:v>32</c:v>
                </c:pt>
                <c:pt idx="6">
                  <c:v>40</c:v>
                </c:pt>
                <c:pt idx="7">
                  <c:v>45</c:v>
                </c:pt>
                <c:pt idx="8">
                  <c:v>50</c:v>
                </c:pt>
                <c:pt idx="9">
                  <c:v>60</c:v>
                </c:pt>
                <c:pt idx="10">
                  <c:v>70</c:v>
                </c:pt>
                <c:pt idx="11">
                  <c:v>80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4.2</c:v>
                </c:pt>
                <c:pt idx="2">
                  <c:v>32.700000000000003</c:v>
                </c:pt>
                <c:pt idx="3">
                  <c:v>13.8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7D-464A-8913-8F984D70E4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Rabatt über 20 %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30</c:v>
                </c:pt>
                <c:pt idx="5">
                  <c:v>32</c:v>
                </c:pt>
                <c:pt idx="6">
                  <c:v>40</c:v>
                </c:pt>
                <c:pt idx="7">
                  <c:v>45</c:v>
                </c:pt>
                <c:pt idx="8">
                  <c:v>50</c:v>
                </c:pt>
                <c:pt idx="9">
                  <c:v>60</c:v>
                </c:pt>
                <c:pt idx="10">
                  <c:v>70</c:v>
                </c:pt>
                <c:pt idx="11">
                  <c:v>80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91.7</c:v>
                </c:pt>
                <c:pt idx="5">
                  <c:v>100</c:v>
                </c:pt>
                <c:pt idx="6">
                  <c:v>87.4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7D-464A-8913-8F984D70E4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Arial"/>
                  </a:defRPr>
                </a:pPr>
                <a:r>
                  <a:rPr lang="de-DE" sz="1100" b="0" i="0" u="none" strike="noStrike">
                    <a:solidFill>
                      <a:srgbClr val="5B6B73"/>
                    </a:solidFill>
                    <a:latin typeface="Arial"/>
                  </a:rPr>
                  <a:t>Rabatt in %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0263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45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3F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778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32688"/>
            <a:ext cx="95097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Superstore · Profitabilitätsanalyse je Verkaufsregion · IHK Data Analyst </a:t>
            </a:r>
            <a:endParaRPr lang="en-US" sz="1000" dirty="0"/>
          </a:p>
        </p:txBody>
      </p:sp>
      <p:pic>
        <p:nvPicPr>
          <p:cNvPr id="5" name="Image 0" descr="/tmp/claude-0/-home-claude/d073e980-70fb-54f7-8875-86eb56399efc/scratchpad/deck/img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6272784"/>
            <a:ext cx="566928" cy="4846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/tmp/claude-0/-home-claude/d073e980-70fb-54f7-8875-86eb56399efc/scratchpad/deck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1600200" cy="13533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331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IHK Data Analyst · Abschlussprojekt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697480"/>
            <a:ext cx="694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</a:rPr>
              <a:t>Superstore – Profitabilitätsanalyse je Verkaufsregion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1605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Wo verliert der Superstore Gewinn – und was können die Regionen konkret ändern?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809743"/>
            <a:ext cx="6949440" cy="1133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· Mesut Karagöz (Projektleiter) </a:t>
            </a:r>
          </a:p>
          <a:p>
            <a:r>
              <a:rPr lang="en-US" sz="1400" dirty="0">
                <a:solidFill>
                  <a:schemeClr val="bg1"/>
                </a:solidFill>
              </a:rPr>
              <a:t>· Erol Bek (</a:t>
            </a:r>
            <a:r>
              <a:rPr lang="de-DE" sz="1400" dirty="0">
                <a:solidFill>
                  <a:schemeClr val="bg1"/>
                </a:solidFill>
              </a:rPr>
              <a:t>Data Analyst 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</a:p>
          <a:p>
            <a:r>
              <a:rPr lang="en-US" sz="1400" dirty="0">
                <a:solidFill>
                  <a:schemeClr val="bg1"/>
                </a:solidFill>
              </a:rPr>
              <a:t>· Vivien Kreitow (</a:t>
            </a:r>
            <a:r>
              <a:rPr lang="de-DE" sz="1400" dirty="0">
                <a:solidFill>
                  <a:schemeClr val="bg1"/>
                </a:solidFill>
              </a:rPr>
              <a:t>Data Analystin 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</a:p>
          <a:p>
            <a:r>
              <a:rPr lang="en-US" sz="1400" dirty="0">
                <a:solidFill>
                  <a:schemeClr val="bg1"/>
                </a:solidFill>
              </a:rPr>
              <a:t>· Gözde Kuyumcu (</a:t>
            </a:r>
            <a:r>
              <a:rPr lang="de-DE" sz="1400" dirty="0">
                <a:solidFill>
                  <a:schemeClr val="bg1"/>
                </a:solidFill>
              </a:rPr>
              <a:t>BI Analystin 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31520" y="5989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23.10.2026 · Dozent: Dr. Denis Düsseldorf</a:t>
            </a:r>
            <a:endParaRPr lang="en-US" sz="1200" dirty="0"/>
          </a:p>
        </p:txBody>
      </p:sp>
      <p:sp>
        <p:nvSpPr>
          <p:cNvPr id="8" name="Bildrahmen"/>
          <p:cNvSpPr/>
          <p:nvPr/>
        </p:nvSpPr>
        <p:spPr>
          <a:xfrm>
            <a:off x="8001000" y="914400"/>
            <a:ext cx="3611880" cy="5029200"/>
          </a:xfrm>
          <a:prstGeom prst="roundRect">
            <a:avLst>
              <a:gd name="adj" fmla="val 506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9" name="Bild Möbel" descr="Möbel-Bannerbild aus dem Power-BI-Berich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051560"/>
            <a:ext cx="3337560" cy="1188720"/>
          </a:xfrm>
          <a:prstGeom prst="rect">
            <a:avLst/>
          </a:prstGeom>
        </p:spPr>
      </p:pic>
      <p:sp>
        <p:nvSpPr>
          <p:cNvPr id="10" name="Daten Kreis"/>
          <p:cNvSpPr/>
          <p:nvPr/>
        </p:nvSpPr>
        <p:spPr>
          <a:xfrm>
            <a:off x="8275320" y="25146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1" name="Date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052" y="2656332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06840" y="24688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Daten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Orders · Returns · People</a:t>
            </a:r>
            <a:endParaRPr lang="en-US" sz="1500" dirty="0"/>
          </a:p>
        </p:txBody>
      </p:sp>
      <p:sp>
        <p:nvSpPr>
          <p:cNvPr id="13" name="KNIME Kreis"/>
          <p:cNvSpPr/>
          <p:nvPr/>
        </p:nvSpPr>
        <p:spPr>
          <a:xfrm>
            <a:off x="8275320" y="33558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KNIME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052" y="3497580"/>
            <a:ext cx="283464" cy="28346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006840" y="331012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KNIME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ETL &amp; explorative Analyse</a:t>
            </a:r>
            <a:endParaRPr lang="en-US" sz="1500" dirty="0"/>
          </a:p>
        </p:txBody>
      </p:sp>
      <p:sp>
        <p:nvSpPr>
          <p:cNvPr id="16" name="Power BI Kreis"/>
          <p:cNvSpPr/>
          <p:nvPr/>
        </p:nvSpPr>
        <p:spPr>
          <a:xfrm>
            <a:off x="8275320" y="41970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Power BI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7052" y="4338828"/>
            <a:ext cx="283464" cy="28346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006840" y="415137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Power BI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Sternschema &amp; Dashboard</a:t>
            </a:r>
            <a:endParaRPr lang="en-US" sz="1500" dirty="0"/>
          </a:p>
        </p:txBody>
      </p:sp>
      <p:sp>
        <p:nvSpPr>
          <p:cNvPr id="19" name="Ergebnis Kreis"/>
          <p:cNvSpPr/>
          <p:nvPr/>
        </p:nvSpPr>
        <p:spPr>
          <a:xfrm>
            <a:off x="8275320" y="503834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0" name="Ergebnis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7052" y="5180076"/>
            <a:ext cx="283464" cy="28346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006840" y="499262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Ergebnis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3 Handlungsempfehlungen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Ausgangssituation &amp; Projektziele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3268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/>
                </a:solidFill>
              </a:rPr>
              <a:t>Der Superstore wächst – aber nicht jede Position ist profitabel</a:t>
            </a:r>
            <a:endParaRPr lang="en-US" sz="1600" dirty="0"/>
          </a:p>
        </p:txBody>
      </p:sp>
      <p:sp>
        <p:nvSpPr>
          <p:cNvPr id="6" name="Stat Umsatz"/>
          <p:cNvSpPr/>
          <p:nvPr/>
        </p:nvSpPr>
        <p:spPr>
          <a:xfrm>
            <a:off x="548640" y="1554480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777240" y="1664208"/>
            <a:ext cx="32918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+51 %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8371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Umsatz 2026 ggü. 2023 (745.568 $ vs. 493.660 $)</a:t>
            </a:r>
            <a:endParaRPr lang="en-US" sz="1300" dirty="0"/>
          </a:p>
        </p:txBody>
      </p:sp>
      <p:sp>
        <p:nvSpPr>
          <p:cNvPr id="9" name="Stat Verlust"/>
          <p:cNvSpPr/>
          <p:nvPr/>
        </p:nvSpPr>
        <p:spPr>
          <a:xfrm>
            <a:off x="548640" y="3063240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777240" y="3172968"/>
            <a:ext cx="32918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18,6 %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9247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der Positionen mit Verlust (1.900 von 10.192)</a:t>
            </a:r>
            <a:endParaRPr lang="en-US" sz="1300" dirty="0"/>
          </a:p>
        </p:txBody>
      </p:sp>
      <p:sp>
        <p:nvSpPr>
          <p:cNvPr id="12" name="Stat Marge"/>
          <p:cNvSpPr/>
          <p:nvPr/>
        </p:nvSpPr>
        <p:spPr>
          <a:xfrm>
            <a:off x="548640" y="4572000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 txBox="1"/>
          <p:nvPr/>
        </p:nvSpPr>
        <p:spPr>
          <a:xfrm>
            <a:off x="777240" y="4681728"/>
            <a:ext cx="32918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7,9 – 15,0 %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30123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Marge je Region: Central am niedrigsten, West am höchsten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5544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Leitfragen (Aufgabenstellung Superstore v1.1)</a:t>
            </a:r>
            <a:endParaRPr lang="en-US" sz="1800" dirty="0"/>
          </a:p>
        </p:txBody>
      </p:sp>
      <p:sp>
        <p:nvSpPr>
          <p:cNvPr id="16" name="Leitfrage 1"/>
          <p:cNvSpPr/>
          <p:nvPr/>
        </p:nvSpPr>
        <p:spPr>
          <a:xfrm>
            <a:off x="4663440" y="2057400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Nummer 1"/>
          <p:cNvSpPr/>
          <p:nvPr/>
        </p:nvSpPr>
        <p:spPr>
          <a:xfrm>
            <a:off x="4800600" y="216712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 txBox="1"/>
          <p:nvPr/>
        </p:nvSpPr>
        <p:spPr>
          <a:xfrm>
            <a:off x="4800600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205740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Regionen im Jahres-, Monats- und Wochenverlauf</a:t>
            </a:r>
            <a:endParaRPr lang="en-US" sz="1600" dirty="0"/>
          </a:p>
        </p:txBody>
      </p:sp>
      <p:sp>
        <p:nvSpPr>
          <p:cNvPr id="20" name="Leitfrage 2"/>
          <p:cNvSpPr/>
          <p:nvPr/>
        </p:nvSpPr>
        <p:spPr>
          <a:xfrm>
            <a:off x="4663440" y="2843784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Nummer 2"/>
          <p:cNvSpPr/>
          <p:nvPr/>
        </p:nvSpPr>
        <p:spPr>
          <a:xfrm>
            <a:off x="4800600" y="2953512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 txBox="1"/>
          <p:nvPr/>
        </p:nvSpPr>
        <p:spPr>
          <a:xfrm>
            <a:off x="4800600" y="2953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2843784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Gewinn und Retouren nach Kategorie, Segment, Region und Versandart</a:t>
            </a:r>
            <a:endParaRPr lang="en-US" sz="1600" dirty="0"/>
          </a:p>
        </p:txBody>
      </p:sp>
      <p:sp>
        <p:nvSpPr>
          <p:cNvPr id="24" name="Leitfrage 3"/>
          <p:cNvSpPr/>
          <p:nvPr/>
        </p:nvSpPr>
        <p:spPr>
          <a:xfrm>
            <a:off x="4663440" y="3630168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Nummer 3"/>
          <p:cNvSpPr/>
          <p:nvPr/>
        </p:nvSpPr>
        <p:spPr>
          <a:xfrm>
            <a:off x="4800600" y="3739896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 txBox="1"/>
          <p:nvPr/>
        </p:nvSpPr>
        <p:spPr>
          <a:xfrm>
            <a:off x="4800600" y="3739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3630168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Rabatt, Umsatz je Stück, Absatzmenge und Profitabilität</a:t>
            </a:r>
            <a:endParaRPr lang="en-US" sz="1600" dirty="0"/>
          </a:p>
        </p:txBody>
      </p:sp>
      <p:sp>
        <p:nvSpPr>
          <p:cNvPr id="28" name="Leitfrage 4"/>
          <p:cNvSpPr/>
          <p:nvPr/>
        </p:nvSpPr>
        <p:spPr>
          <a:xfrm>
            <a:off x="4663440" y="4416552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Nummer 4"/>
          <p:cNvSpPr/>
          <p:nvPr/>
        </p:nvSpPr>
        <p:spPr>
          <a:xfrm>
            <a:off x="4800600" y="45262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 txBox="1"/>
          <p:nvPr/>
        </p:nvSpPr>
        <p:spPr>
          <a:xfrm>
            <a:off x="4800600" y="4526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441655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Konkrete Handlungsempfehlungen je Region</a:t>
            </a:r>
            <a:endParaRPr lang="en-US" sz="1600" dirty="0"/>
          </a:p>
        </p:txBody>
      </p:sp>
      <p:sp>
        <p:nvSpPr>
          <p:cNvPr id="32" name="SMART-Ziel"/>
          <p:cNvSpPr/>
          <p:nvPr/>
        </p:nvSpPr>
        <p:spPr>
          <a:xfrm>
            <a:off x="4663440" y="5257800"/>
            <a:ext cx="6949440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 txBox="1"/>
          <p:nvPr/>
        </p:nvSpPr>
        <p:spPr>
          <a:xfrm>
            <a:off x="4846320" y="525780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Ziel: </a:t>
            </a:r>
            <a:r>
              <a:rPr lang="en-US" sz="1400" dirty="0">
                <a:solidFill>
                  <a:schemeClr val="tx1"/>
                </a:solidFill>
              </a:rPr>
              <a:t>bis 20.10.2026 alle Leitfragen mit KNIME und Power BI beantworten – 3 Empfehlungen, jede mit einer Zahl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2F54517A-B7C7-CE18-DA55-42345BEB3573}"/>
              </a:ext>
            </a:extLst>
          </p:cNvPr>
          <p:cNvSpPr txBox="1"/>
          <p:nvPr/>
        </p:nvSpPr>
        <p:spPr>
          <a:xfrm>
            <a:off x="3649785" y="6533662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Datenbasis &amp; Analyseprozess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3268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/>
                </a:solidFill>
              </a:rPr>
              <a:t>Eine Excel-Datei, drei Tabellen – geprüft, bereinigt und als Sternschema übergeben</a:t>
            </a:r>
            <a:endParaRPr lang="en-US" sz="1600" dirty="0"/>
          </a:p>
        </p:txBody>
      </p:sp>
      <p:sp>
        <p:nvSpPr>
          <p:cNvPr id="6" name="KPI Positionen nach Bereinigung (vorher 10.194)"/>
          <p:cNvSpPr/>
          <p:nvPr/>
        </p:nvSpPr>
        <p:spPr>
          <a:xfrm>
            <a:off x="548640" y="155448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685800" y="16459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10.192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402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Positionen nach Bereinigung (vorher 10.194)</a:t>
            </a:r>
            <a:endParaRPr lang="en-US" sz="1200" dirty="0"/>
          </a:p>
        </p:txBody>
      </p:sp>
      <p:sp>
        <p:nvSpPr>
          <p:cNvPr id="9" name="KPI Bestellungen"/>
          <p:cNvSpPr/>
          <p:nvPr/>
        </p:nvSpPr>
        <p:spPr>
          <a:xfrm>
            <a:off x="2414016" y="155448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2551176" y="16459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5.111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551176" y="22402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Bestellungen</a:t>
            </a:r>
            <a:endParaRPr lang="en-US" sz="1200" dirty="0"/>
          </a:p>
        </p:txBody>
      </p:sp>
      <p:sp>
        <p:nvSpPr>
          <p:cNvPr id="12" name="KPI Kunden"/>
          <p:cNvSpPr/>
          <p:nvPr/>
        </p:nvSpPr>
        <p:spPr>
          <a:xfrm>
            <a:off x="4279392" y="155448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 txBox="1"/>
          <p:nvPr/>
        </p:nvSpPr>
        <p:spPr>
          <a:xfrm>
            <a:off x="4416552" y="16459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804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416552" y="22402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Kunden</a:t>
            </a:r>
            <a:endParaRPr lang="en-US" sz="1200" dirty="0"/>
          </a:p>
        </p:txBody>
      </p:sp>
      <p:sp>
        <p:nvSpPr>
          <p:cNvPr id="15" name="KPI Produkte"/>
          <p:cNvSpPr/>
          <p:nvPr/>
        </p:nvSpPr>
        <p:spPr>
          <a:xfrm>
            <a:off x="6144768" y="155448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 txBox="1"/>
          <p:nvPr/>
        </p:nvSpPr>
        <p:spPr>
          <a:xfrm>
            <a:off x="6281928" y="16459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1.862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22402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Produkte</a:t>
            </a:r>
            <a:endParaRPr lang="en-US" sz="1200" dirty="0"/>
          </a:p>
        </p:txBody>
      </p:sp>
      <p:sp>
        <p:nvSpPr>
          <p:cNvPr id="18" name="KPI Regionen: Central, East, South, West"/>
          <p:cNvSpPr/>
          <p:nvPr/>
        </p:nvSpPr>
        <p:spPr>
          <a:xfrm>
            <a:off x="8010144" y="155448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 txBox="1"/>
          <p:nvPr/>
        </p:nvSpPr>
        <p:spPr>
          <a:xfrm>
            <a:off x="8147304" y="16459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147304" y="22402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Regionen: Central, East, South, West</a:t>
            </a:r>
            <a:endParaRPr lang="en-US" sz="1200" dirty="0"/>
          </a:p>
        </p:txBody>
      </p:sp>
      <p:sp>
        <p:nvSpPr>
          <p:cNvPr id="21" name="KPI Bestellzeitraum"/>
          <p:cNvSpPr/>
          <p:nvPr/>
        </p:nvSpPr>
        <p:spPr>
          <a:xfrm>
            <a:off x="9875520" y="155448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 txBox="1"/>
          <p:nvPr/>
        </p:nvSpPr>
        <p:spPr>
          <a:xfrm>
            <a:off x="10012680" y="16459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2023–2026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0012680" y="22402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Bestellzeitraum</a:t>
            </a:r>
            <a:endParaRPr lang="en-US" sz="1200" dirty="0"/>
          </a:p>
        </p:txBody>
      </p:sp>
      <p:sp>
        <p:nvSpPr>
          <p:cNvPr id="24" name="Prozess Excel"/>
          <p:cNvSpPr/>
          <p:nvPr/>
        </p:nvSpPr>
        <p:spPr>
          <a:xfrm>
            <a:off x="548640" y="3429000"/>
            <a:ext cx="1874520" cy="23317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Excel Kreis"/>
          <p:cNvSpPr/>
          <p:nvPr/>
        </p:nvSpPr>
        <p:spPr>
          <a:xfrm>
            <a:off x="1120140" y="3611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6" name="Excel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3794760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40080" y="4434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Excel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48006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Orders · Returns · People</a:t>
            </a:r>
            <a:endParaRPr lang="en-US" sz="1300" dirty="0"/>
          </a:p>
        </p:txBody>
      </p:sp>
      <p:pic>
        <p:nvPicPr>
          <p:cNvPr id="29" name="Pfeil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4434840"/>
            <a:ext cx="228600" cy="228600"/>
          </a:xfrm>
          <a:prstGeom prst="rect">
            <a:avLst/>
          </a:prstGeom>
        </p:spPr>
      </p:pic>
      <p:sp>
        <p:nvSpPr>
          <p:cNvPr id="30" name="Prozess KNIME"/>
          <p:cNvSpPr/>
          <p:nvPr/>
        </p:nvSpPr>
        <p:spPr>
          <a:xfrm>
            <a:off x="2834640" y="3429000"/>
            <a:ext cx="1874520" cy="23317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KNIME Kreis"/>
          <p:cNvSpPr/>
          <p:nvPr/>
        </p:nvSpPr>
        <p:spPr>
          <a:xfrm>
            <a:off x="3406140" y="3611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2" name="KNIM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794760"/>
            <a:ext cx="365760" cy="36576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2926080" y="4434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KNIME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2971800" y="48006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ETL &amp; EDA: Duplikate, Joins, Kennzahlen</a:t>
            </a:r>
            <a:endParaRPr lang="en-US" sz="1300" dirty="0"/>
          </a:p>
        </p:txBody>
      </p:sp>
      <p:pic>
        <p:nvPicPr>
          <p:cNvPr id="35" name="Pfeil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434840"/>
            <a:ext cx="228600" cy="228600"/>
          </a:xfrm>
          <a:prstGeom prst="rect">
            <a:avLst/>
          </a:prstGeom>
        </p:spPr>
      </p:pic>
      <p:sp>
        <p:nvSpPr>
          <p:cNvPr id="36" name="Prozess Sternschema"/>
          <p:cNvSpPr/>
          <p:nvPr/>
        </p:nvSpPr>
        <p:spPr>
          <a:xfrm>
            <a:off x="5120640" y="3429000"/>
            <a:ext cx="1874520" cy="23317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7" name="Sternschema Kreis"/>
          <p:cNvSpPr/>
          <p:nvPr/>
        </p:nvSpPr>
        <p:spPr>
          <a:xfrm>
            <a:off x="5692140" y="3611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8" name="Sternschema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5020" y="3794760"/>
            <a:ext cx="365760" cy="36576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5212080" y="4434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Sternschema</a:t>
            </a:r>
            <a:endParaRPr lang="en-US" sz="1600" dirty="0"/>
          </a:p>
        </p:txBody>
      </p:sp>
      <p:sp>
        <p:nvSpPr>
          <p:cNvPr id="40" name="Text 33"/>
          <p:cNvSpPr txBox="1"/>
          <p:nvPr/>
        </p:nvSpPr>
        <p:spPr>
          <a:xfrm>
            <a:off x="5257800" y="48006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Fakt_Verkauf + 3 Dimensionen</a:t>
            </a:r>
            <a:endParaRPr lang="en-US" sz="1300" dirty="0"/>
          </a:p>
        </p:txBody>
      </p:sp>
      <p:pic>
        <p:nvPicPr>
          <p:cNvPr id="41" name="Pfeil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4434840"/>
            <a:ext cx="228600" cy="228600"/>
          </a:xfrm>
          <a:prstGeom prst="rect">
            <a:avLst/>
          </a:prstGeom>
        </p:spPr>
      </p:pic>
      <p:sp>
        <p:nvSpPr>
          <p:cNvPr id="42" name="Prozess Power BI"/>
          <p:cNvSpPr/>
          <p:nvPr/>
        </p:nvSpPr>
        <p:spPr>
          <a:xfrm>
            <a:off x="7406640" y="3429000"/>
            <a:ext cx="1874520" cy="23317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3" name="Power BI Kreis"/>
          <p:cNvSpPr/>
          <p:nvPr/>
        </p:nvSpPr>
        <p:spPr>
          <a:xfrm>
            <a:off x="7978140" y="3611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4" name="Power BI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1020" y="3794760"/>
            <a:ext cx="365760" cy="365760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7498080" y="4434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Power BI</a:t>
            </a:r>
            <a:endParaRPr lang="en-US" sz="1600" dirty="0"/>
          </a:p>
        </p:txBody>
      </p:sp>
      <p:sp>
        <p:nvSpPr>
          <p:cNvPr id="46" name="Text 37"/>
          <p:cNvSpPr txBox="1"/>
          <p:nvPr/>
        </p:nvSpPr>
        <p:spPr>
          <a:xfrm>
            <a:off x="7543800" y="48006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Modell, DAX-Measures, 4 Seiten</a:t>
            </a:r>
            <a:endParaRPr lang="en-US" sz="1300" dirty="0"/>
          </a:p>
        </p:txBody>
      </p:sp>
      <p:pic>
        <p:nvPicPr>
          <p:cNvPr id="47" name="Pfeil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4434840"/>
            <a:ext cx="228600" cy="228600"/>
          </a:xfrm>
          <a:prstGeom prst="rect">
            <a:avLst/>
          </a:prstGeom>
        </p:spPr>
      </p:pic>
      <p:sp>
        <p:nvSpPr>
          <p:cNvPr id="48" name="Prozess Empfehlungen"/>
          <p:cNvSpPr/>
          <p:nvPr/>
        </p:nvSpPr>
        <p:spPr>
          <a:xfrm>
            <a:off x="9692640" y="3429000"/>
            <a:ext cx="1874520" cy="23317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9" name="Empfehlungen Kreis"/>
          <p:cNvSpPr/>
          <p:nvPr/>
        </p:nvSpPr>
        <p:spPr>
          <a:xfrm>
            <a:off x="10264140" y="36118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0" name="Empfehlunge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7020" y="3794760"/>
            <a:ext cx="365760" cy="365760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9784080" y="4434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Empfehlungen</a:t>
            </a:r>
            <a:endParaRPr lang="en-US" sz="1600" dirty="0"/>
          </a:p>
        </p:txBody>
      </p:sp>
      <p:sp>
        <p:nvSpPr>
          <p:cNvPr id="52" name="Text 41"/>
          <p:cNvSpPr txBox="1"/>
          <p:nvPr/>
        </p:nvSpPr>
        <p:spPr>
          <a:xfrm>
            <a:off x="9829800" y="48006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3 Regeln mit Zahlen</a:t>
            </a:r>
            <a:endParaRPr lang="en-US" sz="1300" dirty="0"/>
          </a:p>
        </p:txBody>
      </p:sp>
      <p:sp>
        <p:nvSpPr>
          <p:cNvPr id="53" name="Text 42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Datei: sample_-_superstore.xlsx (Superstore-Beispieldaten, fiktiv) · Übergabe KNIME → Power BI über superstore_clean.xlsx (4 Blätter)</a:t>
            </a:r>
            <a:endParaRPr lang="en-US" sz="11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KNIME: ETL &amp; Datenaufbereitung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3268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/>
                </a:solidFill>
              </a:rPr>
              <a:t>Von der Rohdatei zur sauberen Tabelle – jeder Schritt mit Kontrolle</a:t>
            </a:r>
            <a:endParaRPr lang="en-US" sz="1600" dirty="0"/>
          </a:p>
        </p:txBody>
      </p:sp>
      <p:sp>
        <p:nvSpPr>
          <p:cNvPr id="6" name="Rahmen Workflow"/>
          <p:cNvSpPr/>
          <p:nvPr/>
        </p:nvSpPr>
        <p:spPr>
          <a:xfrm>
            <a:off x="475488" y="1481328"/>
            <a:ext cx="6364224" cy="3255264"/>
          </a:xfrm>
          <a:prstGeom prst="roundRect">
            <a:avLst>
              <a:gd name="adj" fmla="val 33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7" name="KNIME Workflow Teil Erol" descr="KNIME-Workflow, Teil Einlesen bis Verlustkennzeich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217920" cy="3056266"/>
          </a:xfrm>
          <a:prstGeom prst="rect">
            <a:avLst/>
          </a:prstGeom>
        </p:spPr>
      </p:pic>
      <p:sp>
        <p:nvSpPr>
          <p:cNvPr id="8" name="Stat Zeilen"/>
          <p:cNvSpPr/>
          <p:nvPr/>
        </p:nvSpPr>
        <p:spPr>
          <a:xfrm>
            <a:off x="548640" y="4937760"/>
            <a:ext cx="19659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 txBox="1"/>
          <p:nvPr/>
        </p:nvSpPr>
        <p:spPr>
          <a:xfrm>
            <a:off x="777240" y="50474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10.192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59155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Positionen (2 Duplikate entfernt)</a:t>
            </a:r>
            <a:endParaRPr lang="en-US" sz="1300" dirty="0"/>
          </a:p>
        </p:txBody>
      </p:sp>
      <p:sp>
        <p:nvSpPr>
          <p:cNvPr id="11" name="Stat Retouren"/>
          <p:cNvSpPr/>
          <p:nvPr/>
        </p:nvSpPr>
        <p:spPr>
          <a:xfrm>
            <a:off x="2670048" y="4937760"/>
            <a:ext cx="19659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 txBox="1"/>
          <p:nvPr/>
        </p:nvSpPr>
        <p:spPr>
          <a:xfrm>
            <a:off x="2898648" y="50474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800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2898648" y="559155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Positionen aus Retouren</a:t>
            </a:r>
            <a:endParaRPr lang="en-US" sz="1300" dirty="0"/>
          </a:p>
        </p:txBody>
      </p:sp>
      <p:sp>
        <p:nvSpPr>
          <p:cNvPr id="14" name="Stat Verlust"/>
          <p:cNvSpPr/>
          <p:nvPr/>
        </p:nvSpPr>
        <p:spPr>
          <a:xfrm>
            <a:off x="4791456" y="4937760"/>
            <a:ext cx="1975104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 txBox="1"/>
          <p:nvPr/>
        </p:nvSpPr>
        <p:spPr>
          <a:xfrm>
            <a:off x="5020056" y="5047488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1.900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5020056" y="5591556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Verlustpositionen (18,6 %)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178040" y="14813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Ablauf im Workflow</a:t>
            </a:r>
            <a:endParaRPr lang="en-US" sz="1400" dirty="0"/>
          </a:p>
        </p:txBody>
      </p:sp>
      <p:sp>
        <p:nvSpPr>
          <p:cNvPr id="18" name="Nummer 1"/>
          <p:cNvSpPr/>
          <p:nvPr/>
        </p:nvSpPr>
        <p:spPr>
          <a:xfrm>
            <a:off x="7178040" y="1929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 txBox="1"/>
          <p:nvPr/>
        </p:nvSpPr>
        <p:spPr>
          <a:xfrm>
            <a:off x="7178040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699248" y="1874520"/>
            <a:ext cx="3959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Excel Reader: Orders, Returns, People (Blatt per Name)</a:t>
            </a:r>
            <a:endParaRPr lang="en-US" sz="1400" dirty="0"/>
          </a:p>
        </p:txBody>
      </p:sp>
      <p:sp>
        <p:nvSpPr>
          <p:cNvPr id="21" name="Nummer 2"/>
          <p:cNvSpPr/>
          <p:nvPr/>
        </p:nvSpPr>
        <p:spPr>
          <a:xfrm>
            <a:off x="7178040" y="25328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 txBox="1"/>
          <p:nvPr/>
        </p:nvSpPr>
        <p:spPr>
          <a:xfrm>
            <a:off x="71780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699248" y="2478024"/>
            <a:ext cx="3959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Statistics: keine fehlenden Werte, Geldwerte stark schief</a:t>
            </a:r>
            <a:endParaRPr lang="en-US" sz="1400" dirty="0"/>
          </a:p>
        </p:txBody>
      </p:sp>
      <p:sp>
        <p:nvSpPr>
          <p:cNvPr id="24" name="Nummer 3"/>
          <p:cNvSpPr/>
          <p:nvPr/>
        </p:nvSpPr>
        <p:spPr>
          <a:xfrm>
            <a:off x="717804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2"/>
          <p:cNvSpPr txBox="1"/>
          <p:nvPr/>
        </p:nvSpPr>
        <p:spPr>
          <a:xfrm>
            <a:off x="717804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699248" y="3081528"/>
            <a:ext cx="3959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Duplikate: 2 Paare identisch bis auf Row ID → entfernt</a:t>
            </a:r>
            <a:endParaRPr lang="en-US" sz="1400" dirty="0"/>
          </a:p>
        </p:txBody>
      </p:sp>
      <p:sp>
        <p:nvSpPr>
          <p:cNvPr id="27" name="Nummer 4"/>
          <p:cNvSpPr/>
          <p:nvPr/>
        </p:nvSpPr>
        <p:spPr>
          <a:xfrm>
            <a:off x="7178040" y="37398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5"/>
          <p:cNvSpPr txBox="1"/>
          <p:nvPr/>
        </p:nvSpPr>
        <p:spPr>
          <a:xfrm>
            <a:off x="717804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3685032"/>
            <a:ext cx="3959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Joiner (Left Outer): + Returns, + People</a:t>
            </a:r>
            <a:endParaRPr lang="en-US" sz="1400" dirty="0"/>
          </a:p>
        </p:txBody>
      </p:sp>
      <p:sp>
        <p:nvSpPr>
          <p:cNvPr id="30" name="Nummer 5"/>
          <p:cNvSpPr/>
          <p:nvPr/>
        </p:nvSpPr>
        <p:spPr>
          <a:xfrm>
            <a:off x="7178040" y="4343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8"/>
          <p:cNvSpPr txBox="1"/>
          <p:nvPr/>
        </p:nvSpPr>
        <p:spPr>
          <a:xfrm>
            <a:off x="71780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7699248" y="4288536"/>
            <a:ext cx="3959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Missing Value: Returned leer → „No"</a:t>
            </a:r>
            <a:endParaRPr lang="en-US" sz="1400" dirty="0"/>
          </a:p>
        </p:txBody>
      </p:sp>
      <p:sp>
        <p:nvSpPr>
          <p:cNvPr id="33" name="Nummer 6"/>
          <p:cNvSpPr/>
          <p:nvPr/>
        </p:nvSpPr>
        <p:spPr>
          <a:xfrm>
            <a:off x="7178040" y="49469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1"/>
          <p:cNvSpPr txBox="1"/>
          <p:nvPr/>
        </p:nvSpPr>
        <p:spPr>
          <a:xfrm>
            <a:off x="7178040" y="4946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7699248" y="4892040"/>
            <a:ext cx="3959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Datum, KW und Versanddauer (1 Ausreißer: 11 Tage)</a:t>
            </a:r>
            <a:endParaRPr lang="en-US" sz="1400" dirty="0"/>
          </a:p>
        </p:txBody>
      </p:sp>
      <p:sp>
        <p:nvSpPr>
          <p:cNvPr id="36" name="Nummer 7"/>
          <p:cNvSpPr/>
          <p:nvPr/>
        </p:nvSpPr>
        <p:spPr>
          <a:xfrm>
            <a:off x="7178040" y="55504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4"/>
          <p:cNvSpPr txBox="1"/>
          <p:nvPr/>
        </p:nvSpPr>
        <p:spPr>
          <a:xfrm>
            <a:off x="717804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7699248" y="5495544"/>
            <a:ext cx="3959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Marge, Umsatz je Stück, Retoure 1/0, Verlust 1/0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KNIME: Explorative Datenanalyse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3268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/>
                </a:solidFill>
              </a:rPr>
              <a:t>Erst entdeckt, dann entschieden – warum die Grenze bei 20 % Rabatt liegt</a:t>
            </a:r>
            <a:endParaRPr lang="en-US" sz="1600" dirty="0"/>
          </a:p>
        </p:txBody>
      </p:sp>
      <p:sp>
        <p:nvSpPr>
          <p:cNvPr id="6" name="Rahmen Diagramm"/>
          <p:cNvSpPr/>
          <p:nvPr/>
        </p:nvSpPr>
        <p:spPr>
          <a:xfrm>
            <a:off x="475488" y="1481328"/>
            <a:ext cx="6181344" cy="4645152"/>
          </a:xfrm>
          <a:prstGeom prst="roundRect">
            <a:avLst>
              <a:gd name="adj" fmla="val 23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graphicFrame>
        <p:nvGraphicFramePr>
          <p:cNvPr id="7" name="Chart 0"/>
          <p:cNvGraphicFramePr/>
          <p:nvPr/>
        </p:nvGraphicFramePr>
        <p:xfrm>
          <a:off x="594360" y="1572768"/>
          <a:ext cx="5943600" cy="4462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Annotation Bruch"/>
          <p:cNvSpPr txBox="1"/>
          <p:nvPr/>
        </p:nvSpPr>
        <p:spPr>
          <a:xfrm>
            <a:off x="1325880" y="2240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20 % → 13,8 %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30 % → 91,7 %</a:t>
            </a:r>
            <a:endParaRPr lang="en-US" sz="1400" dirty="0"/>
          </a:p>
        </p:txBody>
      </p:sp>
      <p:sp>
        <p:nvSpPr>
          <p:cNvPr id="9" name="EDA Rabattklassen"/>
          <p:cNvSpPr/>
          <p:nvPr/>
        </p:nvSpPr>
        <p:spPr>
          <a:xfrm>
            <a:off x="6903720" y="1929384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Rabattklassen Kreis"/>
          <p:cNvSpPr/>
          <p:nvPr/>
        </p:nvSpPr>
        <p:spPr>
          <a:xfrm>
            <a:off x="7059168" y="2157984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1" name="Rabattklasse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758" y="2306574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818120" y="1975104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Rabattklassen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Bruch zwischen 20 % und 30 % → Klassen 0 % · 1–20 % · 21–40 % · über 40 %</a:t>
            </a:r>
            <a:endParaRPr lang="en-US" sz="1500" dirty="0"/>
          </a:p>
        </p:txBody>
      </p:sp>
      <p:sp>
        <p:nvSpPr>
          <p:cNvPr id="17" name="EDA Ausreißer (IQR)"/>
          <p:cNvSpPr/>
          <p:nvPr/>
        </p:nvSpPr>
        <p:spPr>
          <a:xfrm>
            <a:off x="6903720" y="3218688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Ausreißer (IQR) Kreis"/>
          <p:cNvSpPr/>
          <p:nvPr/>
        </p:nvSpPr>
        <p:spPr>
          <a:xfrm>
            <a:off x="7059168" y="3447288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" name="Ausreißer (IQR)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7758" y="3595878"/>
            <a:ext cx="297180" cy="2971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818120" y="3264408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Ausreißer (IQR)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Grenzen per Flow Variables berechnet: 1.183 Sales-, 1.913 Profit-Flags – markiert, nicht gelöscht</a:t>
            </a:r>
            <a:endParaRPr lang="en-US" sz="1500" dirty="0"/>
          </a:p>
        </p:txBody>
      </p:sp>
      <p:sp>
        <p:nvSpPr>
          <p:cNvPr id="21" name="EDA Sternschema &amp; Export"/>
          <p:cNvSpPr/>
          <p:nvPr/>
        </p:nvSpPr>
        <p:spPr>
          <a:xfrm>
            <a:off x="6903720" y="4521708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ternschema &amp; Export Kreis"/>
          <p:cNvSpPr/>
          <p:nvPr/>
        </p:nvSpPr>
        <p:spPr>
          <a:xfrm>
            <a:off x="7059168" y="4750308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3" name="Sternschema &amp; Export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7758" y="4898898"/>
            <a:ext cx="297180" cy="29718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818120" y="4567428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Sternschema &amp; Export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Fakt 10.192 × 30, Dim Produkt 1.862 · Kunde 804 · Region 4 → superstore_clean.xlsx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ahmen Dashboard"/>
          <p:cNvSpPr/>
          <p:nvPr/>
        </p:nvSpPr>
        <p:spPr>
          <a:xfrm>
            <a:off x="475488" y="1499616"/>
            <a:ext cx="7872984" cy="4444590"/>
          </a:xfrm>
          <a:prstGeom prst="roundRect">
            <a:avLst>
              <a:gd name="adj" fmla="val 246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 txBox="1"/>
          <p:nvPr/>
        </p:nvSpPr>
        <p:spPr>
          <a:xfrm>
            <a:off x="8670310" y="69692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Kernaussagen</a:t>
            </a:r>
            <a:endParaRPr lang="en-US" sz="1400" dirty="0"/>
          </a:p>
        </p:txBody>
      </p:sp>
      <p:sp>
        <p:nvSpPr>
          <p:cNvPr id="9" name="Kernaussage 1"/>
          <p:cNvSpPr/>
          <p:nvPr/>
        </p:nvSpPr>
        <p:spPr>
          <a:xfrm>
            <a:off x="8670310" y="1188191"/>
            <a:ext cx="310896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 txBox="1"/>
          <p:nvPr/>
        </p:nvSpPr>
        <p:spPr>
          <a:xfrm>
            <a:off x="8772692" y="1206479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+51 %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772692" y="1645391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Umsatz 2026 ggü. 2023 – mit Delle 2024</a:t>
            </a:r>
            <a:endParaRPr lang="en-US" sz="1200" dirty="0"/>
          </a:p>
        </p:txBody>
      </p:sp>
      <p:sp>
        <p:nvSpPr>
          <p:cNvPr id="12" name="Kernaussage 2"/>
          <p:cNvSpPr/>
          <p:nvPr/>
        </p:nvSpPr>
        <p:spPr>
          <a:xfrm>
            <a:off x="8670310" y="2285471"/>
            <a:ext cx="310896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 txBox="1"/>
          <p:nvPr/>
        </p:nvSpPr>
        <p:spPr>
          <a:xfrm>
            <a:off x="8772692" y="2303759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7,9 % | 15,0 %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772692" y="2742671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Marge Central | West</a:t>
            </a:r>
            <a:endParaRPr lang="en-US" sz="1200" dirty="0"/>
          </a:p>
        </p:txBody>
      </p:sp>
      <p:sp>
        <p:nvSpPr>
          <p:cNvPr id="15" name="Kernaussage 3"/>
          <p:cNvSpPr/>
          <p:nvPr/>
        </p:nvSpPr>
        <p:spPr>
          <a:xfrm>
            <a:off x="8670310" y="3382751"/>
            <a:ext cx="310896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 txBox="1"/>
          <p:nvPr/>
        </p:nvSpPr>
        <p:spPr>
          <a:xfrm>
            <a:off x="8772692" y="3401039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51,5 %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772692" y="3839951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des Umsatzes von September bis Dezember</a:t>
            </a:r>
            <a:endParaRPr lang="en-US" sz="1200" dirty="0"/>
          </a:p>
        </p:txBody>
      </p:sp>
      <p:sp>
        <p:nvSpPr>
          <p:cNvPr id="18" name="Kernaussage 4"/>
          <p:cNvSpPr/>
          <p:nvPr/>
        </p:nvSpPr>
        <p:spPr>
          <a:xfrm>
            <a:off x="8670310" y="4480031"/>
            <a:ext cx="310896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 txBox="1"/>
          <p:nvPr/>
        </p:nvSpPr>
        <p:spPr>
          <a:xfrm>
            <a:off x="8772692" y="4498319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957 | 274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772692" y="4937231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Bestellungen Freitag | Sonntag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1" name="Add-In 20" title="Microsoft Power BI">
                <a:extLst>
                  <a:ext uri="{FF2B5EF4-FFF2-40B4-BE49-F238E27FC236}">
                    <a16:creationId xmlns:a16="http://schemas.microsoft.com/office/drawing/2014/main" id="{C003A6C3-6F61-E1EE-FD4E-98E20DCFFE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3730080"/>
                  </p:ext>
                </p:extLst>
              </p:nvPr>
            </p:nvGraphicFramePr>
            <p:xfrm>
              <a:off x="171938" y="429845"/>
              <a:ext cx="8194822" cy="551436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1" name="Add-In 20" title="Microsoft Power BI">
                <a:extLst>
                  <a:ext uri="{FF2B5EF4-FFF2-40B4-BE49-F238E27FC236}">
                    <a16:creationId xmlns:a16="http://schemas.microsoft.com/office/drawing/2014/main" id="{C003A6C3-6F61-E1EE-FD4E-98E20DCFFE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938" y="429845"/>
                <a:ext cx="8194822" cy="551436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ahmen Dashboard"/>
          <p:cNvSpPr/>
          <p:nvPr/>
        </p:nvSpPr>
        <p:spPr>
          <a:xfrm>
            <a:off x="610031" y="1499616"/>
            <a:ext cx="7872984" cy="4444590"/>
          </a:xfrm>
          <a:prstGeom prst="roundRect">
            <a:avLst>
              <a:gd name="adj" fmla="val 246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 txBox="1"/>
          <p:nvPr/>
        </p:nvSpPr>
        <p:spPr>
          <a:xfrm>
            <a:off x="8867063" y="94206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Kernaussagen</a:t>
            </a:r>
            <a:endParaRPr lang="en-US" sz="1400" dirty="0"/>
          </a:p>
        </p:txBody>
      </p:sp>
      <p:sp>
        <p:nvSpPr>
          <p:cNvPr id="9" name="Kernaussage 1"/>
          <p:cNvSpPr/>
          <p:nvPr/>
        </p:nvSpPr>
        <p:spPr>
          <a:xfrm>
            <a:off x="8867063" y="1353546"/>
            <a:ext cx="310896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 txBox="1"/>
          <p:nvPr/>
        </p:nvSpPr>
        <p:spPr>
          <a:xfrm>
            <a:off x="9049943" y="142669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2,6 %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049943" y="186561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Marge Furniture (Office Supplies 17,2 %, Technology 17,4 %)</a:t>
            </a:r>
            <a:endParaRPr lang="en-US" sz="1200" dirty="0"/>
          </a:p>
        </p:txBody>
      </p:sp>
      <p:sp>
        <p:nvSpPr>
          <p:cNvPr id="12" name="Kernaussage 2"/>
          <p:cNvSpPr/>
          <p:nvPr/>
        </p:nvSpPr>
        <p:spPr>
          <a:xfrm>
            <a:off x="8867063" y="2450826"/>
            <a:ext cx="310896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 txBox="1"/>
          <p:nvPr/>
        </p:nvSpPr>
        <p:spPr>
          <a:xfrm>
            <a:off x="9049943" y="252397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11,6 %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9049943" y="296289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Retourenquote West (andere Regionen 2,9–3,3 %)</a:t>
            </a:r>
            <a:endParaRPr lang="en-US" sz="1200" dirty="0"/>
          </a:p>
        </p:txBody>
      </p:sp>
      <p:sp>
        <p:nvSpPr>
          <p:cNvPr id="15" name="Kernaussage 3"/>
          <p:cNvSpPr/>
          <p:nvPr/>
        </p:nvSpPr>
        <p:spPr>
          <a:xfrm>
            <a:off x="8867063" y="3548106"/>
            <a:ext cx="310896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 txBox="1"/>
          <p:nvPr/>
        </p:nvSpPr>
        <p:spPr>
          <a:xfrm>
            <a:off x="9049943" y="362125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5,8 %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9049943" y="406017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Retourenquote gesamt (Anteil retournierter Bestellungen)</a:t>
            </a:r>
            <a:endParaRPr lang="en-US" sz="1200" dirty="0"/>
          </a:p>
        </p:txBody>
      </p:sp>
      <p:sp>
        <p:nvSpPr>
          <p:cNvPr id="18" name="Kernaussage 4"/>
          <p:cNvSpPr/>
          <p:nvPr/>
        </p:nvSpPr>
        <p:spPr>
          <a:xfrm>
            <a:off x="8867063" y="4645386"/>
            <a:ext cx="310896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 txBox="1"/>
          <p:nvPr/>
        </p:nvSpPr>
        <p:spPr>
          <a:xfrm>
            <a:off x="9049943" y="471853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−17.753 $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9049943" y="515745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Gewinn Tables – größter Verlust je Unterkategorie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1" name="Add-In 20" title="Microsoft Power BI">
                <a:extLst>
                  <a:ext uri="{FF2B5EF4-FFF2-40B4-BE49-F238E27FC236}">
                    <a16:creationId xmlns:a16="http://schemas.microsoft.com/office/drawing/2014/main" id="{B9E63D46-32A5-E60D-4E57-5278A5DAA8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2148638"/>
                  </p:ext>
                </p:extLst>
              </p:nvPr>
            </p:nvGraphicFramePr>
            <p:xfrm>
              <a:off x="475488" y="402336"/>
              <a:ext cx="8025815" cy="5715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1" name="Add-In 20" title="Microsoft Power BI">
                <a:extLst>
                  <a:ext uri="{FF2B5EF4-FFF2-40B4-BE49-F238E27FC236}">
                    <a16:creationId xmlns:a16="http://schemas.microsoft.com/office/drawing/2014/main" id="{B9E63D46-32A5-E60D-4E57-5278A5DAA85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5488" y="402336"/>
                <a:ext cx="8025815" cy="5715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ahmen Dashboard"/>
          <p:cNvSpPr/>
          <p:nvPr/>
        </p:nvSpPr>
        <p:spPr>
          <a:xfrm>
            <a:off x="608349" y="1740954"/>
            <a:ext cx="7872984" cy="4444590"/>
          </a:xfrm>
          <a:prstGeom prst="roundRect">
            <a:avLst>
              <a:gd name="adj" fmla="val 246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 txBox="1"/>
          <p:nvPr/>
        </p:nvSpPr>
        <p:spPr>
          <a:xfrm>
            <a:off x="8803444" y="11834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Kernaussagen</a:t>
            </a:r>
            <a:endParaRPr lang="en-US" sz="1400" dirty="0"/>
          </a:p>
        </p:txBody>
      </p:sp>
      <p:sp>
        <p:nvSpPr>
          <p:cNvPr id="9" name="Kernaussage 1"/>
          <p:cNvSpPr/>
          <p:nvPr/>
        </p:nvSpPr>
        <p:spPr>
          <a:xfrm>
            <a:off x="8803444" y="1594884"/>
            <a:ext cx="310896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 txBox="1"/>
          <p:nvPr/>
        </p:nvSpPr>
        <p:spPr>
          <a:xfrm>
            <a:off x="8986324" y="166803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−136.009 $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986324" y="21069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Gewinn der Positionen mit Rabatt über 20 %</a:t>
            </a:r>
            <a:endParaRPr lang="en-US" sz="1200" dirty="0"/>
          </a:p>
        </p:txBody>
      </p:sp>
      <p:sp>
        <p:nvSpPr>
          <p:cNvPr id="12" name="Kernaussage 2"/>
          <p:cNvSpPr/>
          <p:nvPr/>
        </p:nvSpPr>
        <p:spPr>
          <a:xfrm>
            <a:off x="8803444" y="2692164"/>
            <a:ext cx="310896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 txBox="1"/>
          <p:nvPr/>
        </p:nvSpPr>
        <p:spPr>
          <a:xfrm>
            <a:off x="8986324" y="276531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90–100 %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986324" y="32042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Verlustpositionen in den Klassen über 20 %</a:t>
            </a:r>
            <a:endParaRPr lang="en-US" sz="1200" dirty="0"/>
          </a:p>
        </p:txBody>
      </p:sp>
      <p:sp>
        <p:nvSpPr>
          <p:cNvPr id="15" name="Kernaussage 3"/>
          <p:cNvSpPr/>
          <p:nvPr/>
        </p:nvSpPr>
        <p:spPr>
          <a:xfrm>
            <a:off x="8803444" y="3789444"/>
            <a:ext cx="310896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 txBox="1"/>
          <p:nvPr/>
        </p:nvSpPr>
        <p:spPr>
          <a:xfrm>
            <a:off x="8986324" y="386259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≈ 3,8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986324" y="43015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Stück je Position – in jeder Rabattklasse gleich</a:t>
            </a:r>
            <a:endParaRPr lang="en-US" sz="1200" dirty="0"/>
          </a:p>
        </p:txBody>
      </p:sp>
      <p:sp>
        <p:nvSpPr>
          <p:cNvPr id="18" name="Kernaussage 4"/>
          <p:cNvSpPr/>
          <p:nvPr/>
        </p:nvSpPr>
        <p:spPr>
          <a:xfrm>
            <a:off x="8803444" y="4886724"/>
            <a:ext cx="310896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 txBox="1"/>
          <p:nvPr/>
        </p:nvSpPr>
        <p:spPr>
          <a:xfrm>
            <a:off x="8986324" y="495987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15,6 %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986324" y="53987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Rabattquote, mengengewichtet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6" name="Add-In 25" title="Microsoft Power BI">
                <a:extLst>
                  <a:ext uri="{FF2B5EF4-FFF2-40B4-BE49-F238E27FC236}">
                    <a16:creationId xmlns:a16="http://schemas.microsoft.com/office/drawing/2014/main" id="{3097D209-6901-A96A-3793-E00C09CC0A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1162846"/>
                  </p:ext>
                </p:extLst>
              </p:nvPr>
            </p:nvGraphicFramePr>
            <p:xfrm>
              <a:off x="286238" y="710260"/>
              <a:ext cx="8195095" cy="564270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6" name="Add-In 25" title="Microsoft Power BI">
                <a:extLst>
                  <a:ext uri="{FF2B5EF4-FFF2-40B4-BE49-F238E27FC236}">
                    <a16:creationId xmlns:a16="http://schemas.microsoft.com/office/drawing/2014/main" id="{3097D209-6901-A96A-3793-E00C09CC0A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6238" y="710260"/>
                <a:ext cx="8195095" cy="564270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ahmen Dashboard"/>
          <p:cNvSpPr/>
          <p:nvPr/>
        </p:nvSpPr>
        <p:spPr>
          <a:xfrm>
            <a:off x="475488" y="1499616"/>
            <a:ext cx="5632704" cy="3198341"/>
          </a:xfrm>
          <a:prstGeom prst="roundRect">
            <a:avLst>
              <a:gd name="adj" fmla="val 34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Hinweis Interpretation"/>
          <p:cNvSpPr/>
          <p:nvPr/>
        </p:nvSpPr>
        <p:spPr>
          <a:xfrm>
            <a:off x="357983" y="5626543"/>
            <a:ext cx="11405010" cy="608101"/>
          </a:xfrm>
          <a:prstGeom prst="roundRect">
            <a:avLst>
              <a:gd name="adj" fmla="val 96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 txBox="1"/>
          <p:nvPr/>
        </p:nvSpPr>
        <p:spPr>
          <a:xfrm>
            <a:off x="540863" y="5626543"/>
            <a:ext cx="11222129" cy="622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Zur Einordnung: </a:t>
            </a:r>
            <a:r>
              <a:rPr lang="en-US" sz="1400" dirty="0">
                <a:solidFill>
                  <a:schemeClr val="tx1"/>
                </a:solidFill>
              </a:rPr>
              <a:t>Die Zahlen sind Analysebefunde – keine garantierten Einsparungen. 107.483 $ ist Umsatz retournierter Bestellungen, nicht automatisch verlorenes Geld.</a:t>
            </a:r>
            <a:endParaRPr lang="en-US" sz="1400" dirty="0"/>
          </a:p>
        </p:txBody>
      </p:sp>
      <p:sp>
        <p:nvSpPr>
          <p:cNvPr id="10" name="Empfehlung 1"/>
          <p:cNvSpPr/>
          <p:nvPr/>
        </p:nvSpPr>
        <p:spPr>
          <a:xfrm>
            <a:off x="7987321" y="553419"/>
            <a:ext cx="3775671" cy="1426464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sz="1100"/>
          </a:p>
        </p:txBody>
      </p:sp>
      <p:sp>
        <p:nvSpPr>
          <p:cNvPr id="11" name="Nummer 1"/>
          <p:cNvSpPr/>
          <p:nvPr/>
        </p:nvSpPr>
        <p:spPr>
          <a:xfrm>
            <a:off x="8307978" y="759159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de-DE" sz="1100"/>
          </a:p>
        </p:txBody>
      </p:sp>
      <p:sp>
        <p:nvSpPr>
          <p:cNvPr id="12" name="Text 9"/>
          <p:cNvSpPr txBox="1"/>
          <p:nvPr/>
        </p:nvSpPr>
        <p:spPr>
          <a:xfrm>
            <a:off x="8339015" y="769866"/>
            <a:ext cx="3494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276861" y="707304"/>
            <a:ext cx="2348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Rabatt auf maximal 20 % begrenzen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196833" y="1266651"/>
            <a:ext cx="775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−136.009 $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972061" y="1201080"/>
            <a:ext cx="26354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Ergebnis aller Positionen mit Rabatt über 20 %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196833" y="163999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Maßnahme: </a:t>
            </a:r>
            <a:r>
              <a:rPr lang="en-US" sz="1100" dirty="0">
                <a:solidFill>
                  <a:schemeClr val="tx1"/>
                </a:solidFill>
              </a:rPr>
              <a:t>Freigabe durch Vorgesetzte ab 20 % Rabatt</a:t>
            </a:r>
            <a:endParaRPr lang="en-US" sz="1100" dirty="0"/>
          </a:p>
        </p:txBody>
      </p:sp>
      <p:sp>
        <p:nvSpPr>
          <p:cNvPr id="17" name="Empfehlung 2"/>
          <p:cNvSpPr/>
          <p:nvPr/>
        </p:nvSpPr>
        <p:spPr>
          <a:xfrm>
            <a:off x="7987321" y="2170344"/>
            <a:ext cx="3757384" cy="1426464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sz="1100"/>
          </a:p>
        </p:txBody>
      </p:sp>
      <p:sp>
        <p:nvSpPr>
          <p:cNvPr id="18" name="Nummer 2"/>
          <p:cNvSpPr/>
          <p:nvPr/>
        </p:nvSpPr>
        <p:spPr>
          <a:xfrm>
            <a:off x="8320727" y="236348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de-DE" sz="1100"/>
          </a:p>
        </p:txBody>
      </p:sp>
      <p:sp>
        <p:nvSpPr>
          <p:cNvPr id="19" name="Text 16"/>
          <p:cNvSpPr txBox="1"/>
          <p:nvPr/>
        </p:nvSpPr>
        <p:spPr>
          <a:xfrm>
            <a:off x="8339015" y="2353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534767" y="2280072"/>
            <a:ext cx="20910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Rabattpolitik in Central überprüfen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268676" y="2850009"/>
            <a:ext cx="6315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  27,7 %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737967" y="2773848"/>
            <a:ext cx="18695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Central-Positionen mit Rabatt über 20 %; −52.444 $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268675" y="3212760"/>
            <a:ext cx="33571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Maßnahme: </a:t>
            </a:r>
            <a:r>
              <a:rPr lang="en-US" sz="1100" dirty="0">
                <a:solidFill>
                  <a:schemeClr val="tx1"/>
                </a:solidFill>
              </a:rPr>
              <a:t>Rabattvergabe und Produktgruppen mit Regional Manager prüfen</a:t>
            </a:r>
            <a:endParaRPr lang="en-US" sz="1100" dirty="0"/>
          </a:p>
        </p:txBody>
      </p:sp>
      <p:sp>
        <p:nvSpPr>
          <p:cNvPr id="24" name="Empfehlung 3"/>
          <p:cNvSpPr/>
          <p:nvPr/>
        </p:nvSpPr>
        <p:spPr>
          <a:xfrm>
            <a:off x="7969033" y="3743111"/>
            <a:ext cx="3775671" cy="1476549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sz="1100"/>
          </a:p>
        </p:txBody>
      </p:sp>
      <p:sp>
        <p:nvSpPr>
          <p:cNvPr id="25" name="Nummer 3"/>
          <p:cNvSpPr/>
          <p:nvPr/>
        </p:nvSpPr>
        <p:spPr>
          <a:xfrm>
            <a:off x="8339015" y="3896997"/>
            <a:ext cx="411480" cy="425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 sz="1100"/>
          </a:p>
        </p:txBody>
      </p:sp>
      <p:sp>
        <p:nvSpPr>
          <p:cNvPr id="26" name="Text 23"/>
          <p:cNvSpPr txBox="1"/>
          <p:nvPr/>
        </p:nvSpPr>
        <p:spPr>
          <a:xfrm>
            <a:off x="8339015" y="3896911"/>
            <a:ext cx="411480" cy="4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34767" y="3852839"/>
            <a:ext cx="2091066" cy="473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Retourenursachen in West klären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339016" y="4364904"/>
            <a:ext cx="583594" cy="4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11,6 %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401907" y="4346615"/>
            <a:ext cx="2205638" cy="473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Retourenquote West (107.483 $ retournierter Umsatz)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8339015" y="4785528"/>
            <a:ext cx="3286817" cy="34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Maßnahme: </a:t>
            </a:r>
            <a:r>
              <a:rPr lang="en-US" sz="1100" dirty="0">
                <a:solidFill>
                  <a:schemeClr val="tx1"/>
                </a:solidFill>
              </a:rPr>
              <a:t>Retourengründe nach Produkt, Kunde und Versandart erfassen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6" name="Add-In 35" title="Microsoft Power BI">
                <a:extLst>
                  <a:ext uri="{FF2B5EF4-FFF2-40B4-BE49-F238E27FC236}">
                    <a16:creationId xmlns:a16="http://schemas.microsoft.com/office/drawing/2014/main" id="{99F0FB9B-2958-E8EB-53E6-06DA81AA2B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8994295"/>
                  </p:ext>
                </p:extLst>
              </p:nvPr>
            </p:nvGraphicFramePr>
            <p:xfrm>
              <a:off x="357983" y="314907"/>
              <a:ext cx="7322253" cy="520650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36" name="Add-In 35" title="Microsoft Power BI">
                <a:extLst>
                  <a:ext uri="{FF2B5EF4-FFF2-40B4-BE49-F238E27FC236}">
                    <a16:creationId xmlns:a16="http://schemas.microsoft.com/office/drawing/2014/main" id="{99F0FB9B-2958-E8EB-53E6-06DA81AA2B2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983" y="314907"/>
                <a:ext cx="7322253" cy="520650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Maßnahmen, Grenzen &amp; Erfolgskontrolle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3268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/>
                </a:solidFill>
              </a:rPr>
              <a:t>Realistisch umsetzen, messbar verfolgen – und ehrlich sagen, was die Daten nicht zeigen</a:t>
            </a:r>
            <a:endParaRPr lang="en-US" sz="1600" dirty="0"/>
          </a:p>
        </p:txBody>
      </p:sp>
      <p:sp>
        <p:nvSpPr>
          <p:cNvPr id="6" name="Spalte Umsetzung"/>
          <p:cNvSpPr/>
          <p:nvPr/>
        </p:nvSpPr>
        <p:spPr>
          <a:xfrm>
            <a:off x="548640" y="1572768"/>
            <a:ext cx="3547872" cy="3566160"/>
          </a:xfrm>
          <a:prstGeom prst="roundRect">
            <a:avLst>
              <a:gd name="adj" fmla="val 309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Umsetzung Kreis"/>
          <p:cNvSpPr/>
          <p:nvPr/>
        </p:nvSpPr>
        <p:spPr>
          <a:xfrm>
            <a:off x="822960" y="1801368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Umsetzung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1972818"/>
            <a:ext cx="342900" cy="342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801368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Umsetzung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97480"/>
            <a:ext cx="30449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Freigabeprozess für Rabatte über 20 %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Rabattkontrolle in Central, zuerst als Pilot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Retourengründe in West systematisch erfassen</a:t>
            </a:r>
            <a:endParaRPr lang="en-US" sz="1500" dirty="0"/>
          </a:p>
        </p:txBody>
      </p:sp>
      <p:sp>
        <p:nvSpPr>
          <p:cNvPr id="11" name="Spalte Erfolgskontrolle"/>
          <p:cNvSpPr/>
          <p:nvPr/>
        </p:nvSpPr>
        <p:spPr>
          <a:xfrm>
            <a:off x="4315968" y="1572768"/>
            <a:ext cx="3547872" cy="3566160"/>
          </a:xfrm>
          <a:prstGeom prst="roundRect">
            <a:avLst>
              <a:gd name="adj" fmla="val 309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Erfolgskontrolle Kreis"/>
          <p:cNvSpPr/>
          <p:nvPr/>
        </p:nvSpPr>
        <p:spPr>
          <a:xfrm>
            <a:off x="4590288" y="1801368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3" name="Erfolgskontroll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738" y="1972818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13248" y="1801368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Erfolgskontrolle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590288" y="2697480"/>
            <a:ext cx="30449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Marge % je Region und Quartal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Verlustpositionsquote und Anteil Rabatt über 20 %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Retourenquote West – alles im bestehenden Dashboard</a:t>
            </a:r>
            <a:endParaRPr lang="en-US" sz="1500" dirty="0"/>
          </a:p>
        </p:txBody>
      </p:sp>
      <p:sp>
        <p:nvSpPr>
          <p:cNvPr id="16" name="Spalte Grenzen"/>
          <p:cNvSpPr/>
          <p:nvPr/>
        </p:nvSpPr>
        <p:spPr>
          <a:xfrm>
            <a:off x="8083296" y="1572768"/>
            <a:ext cx="3547872" cy="3566160"/>
          </a:xfrm>
          <a:prstGeom prst="roundRect">
            <a:avLst>
              <a:gd name="adj" fmla="val 309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Grenzen Kreis"/>
          <p:cNvSpPr/>
          <p:nvPr/>
        </p:nvSpPr>
        <p:spPr>
          <a:xfrm>
            <a:off x="8357616" y="1801368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" name="Grenze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9066" y="1972818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80576" y="1801368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Grenzen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357616" y="2697480"/>
            <a:ext cx="30449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Beobachtungsdaten: Zusammenhang ist keine Ursache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Wirkung einer Rabattgrenze noch nicht getestet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Keine Retourengründe und keine Kostendaten; Währung als USD angenommen</a:t>
            </a:r>
            <a:endParaRPr lang="en-US" sz="1500" dirty="0"/>
          </a:p>
        </p:txBody>
      </p:sp>
      <p:sp>
        <p:nvSpPr>
          <p:cNvPr id="21" name="Nächster Schritt"/>
          <p:cNvSpPr/>
          <p:nvPr/>
        </p:nvSpPr>
        <p:spPr>
          <a:xfrm>
            <a:off x="548640" y="5349240"/>
            <a:ext cx="11082528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Nächster Schritt Kreis"/>
          <p:cNvSpPr/>
          <p:nvPr/>
        </p:nvSpPr>
        <p:spPr>
          <a:xfrm>
            <a:off x="731520" y="54406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3" name="Nächster Schritt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" y="558927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08760" y="53492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Nächster Schritt: </a:t>
            </a:r>
            <a:r>
              <a:rPr lang="en-US" sz="1500" dirty="0">
                <a:solidFill>
                  <a:schemeClr val="tx1"/>
                </a:solidFill>
              </a:rPr>
              <a:t>Rabattfreigabe ein Quartal lang als Pilot in Central testen und Marge, Verlustpositionsquote und Retourenquote im Dashboard vergleichen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4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Fazit</a:t>
            </a:r>
            <a:endParaRPr lang="en-US" sz="3600" dirty="0"/>
          </a:p>
        </p:txBody>
      </p:sp>
      <p:sp>
        <p:nvSpPr>
          <p:cNvPr id="3" name="Check KNIME Kreis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" name="Check KNIM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7145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508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KNIME:  </a:t>
            </a:r>
            <a:r>
              <a:rPr lang="en-US" sz="1800" dirty="0">
                <a:solidFill>
                  <a:schemeClr val="bg1"/>
                </a:solidFill>
              </a:rPr>
              <a:t>Daten geprüft, bereinigt, verknüpft – jede Entscheidung mit EDA belegt</a:t>
            </a:r>
            <a:endParaRPr lang="en-US" sz="1800" dirty="0"/>
          </a:p>
        </p:txBody>
      </p:sp>
      <p:sp>
        <p:nvSpPr>
          <p:cNvPr id="6" name="Check Power BI Kreis"/>
          <p:cNvSpPr/>
          <p:nvPr/>
        </p:nvSpPr>
        <p:spPr>
          <a:xfrm>
            <a:off x="731520" y="2606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Check Power BI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7660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560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Power BI:  </a:t>
            </a:r>
            <a:r>
              <a:rPr lang="en-US" sz="1800" dirty="0">
                <a:solidFill>
                  <a:schemeClr val="bg1"/>
                </a:solidFill>
              </a:rPr>
              <a:t>Umsatz, Gewinn, Retouren und Rabatte je Region in 4 Seiten sichtbar gemacht</a:t>
            </a:r>
            <a:endParaRPr lang="en-US" sz="1800" dirty="0"/>
          </a:p>
        </p:txBody>
      </p:sp>
      <p:sp>
        <p:nvSpPr>
          <p:cNvPr id="9" name="Check Ergebnis Kreis"/>
          <p:cNvSpPr/>
          <p:nvPr/>
        </p:nvSpPr>
        <p:spPr>
          <a:xfrm>
            <a:off x="731520" y="3657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" name="Check Ergebnis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381762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Ergebnis:  </a:t>
            </a:r>
            <a:r>
              <a:rPr lang="en-US" sz="1800" dirty="0">
                <a:solidFill>
                  <a:schemeClr val="bg1"/>
                </a:solidFill>
              </a:rPr>
              <a:t>3 konkrete Regeln für das Management – jede mit einer Zahl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731520" y="4800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6"/>
                </a:solidFill>
              </a:rPr>
              <a:t>Der Superstore wächst – profitabler wird er durch klare Rabattregeln und weniger Retouren.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731520" y="5440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Vielen Dank für Ihre Aufmerksamkeit.</a:t>
            </a:r>
            <a:endParaRPr lang="en-US" sz="2800" dirty="0"/>
          </a:p>
        </p:txBody>
      </p:sp>
      <p:sp>
        <p:nvSpPr>
          <p:cNvPr id="14" name="Text 9"/>
          <p:cNvSpPr txBox="1"/>
          <p:nvPr/>
        </p:nvSpPr>
        <p:spPr>
          <a:xfrm>
            <a:off x="731520" y="5943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2"/>
                </a:solidFill>
              </a:rPr>
              <a:t>Wir freuen uns auf Ihre Fragen.</a:t>
            </a:r>
            <a:endParaRPr lang="en-US" sz="2200" dirty="0"/>
          </a:p>
        </p:txBody>
      </p:sp>
      <p:pic>
        <p:nvPicPr>
          <p:cNvPr id="15" name="Logo" descr="/tmp/claude-0/-home-claude/d073e980-70fb-54f7-8875-86eb56399efc/scratchpad/deck/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280160"/>
            <a:ext cx="2377440" cy="20116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59536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</a:rPr>
              <a:t>Mesut Karagöz · Erol · Vivien · Gözde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erstore Retail Analytics">
  <a:themeElements>
    <a:clrScheme name="Superstore Retail Analytics">
      <a:dk1>
        <a:srgbClr val="102638"/>
      </a:dk1>
      <a:lt1>
        <a:srgbClr val="FFFEFC"/>
      </a:lt1>
      <a:dk2>
        <a:srgbClr val="073F43"/>
      </a:dk2>
      <a:lt2>
        <a:srgbClr val="F7F4EE"/>
      </a:lt2>
      <a:accent1>
        <a:srgbClr val="159694"/>
      </a:accent1>
      <a:accent2>
        <a:srgbClr val="D99C36"/>
      </a:accent2>
      <a:accent3>
        <a:srgbClr val="C0392B"/>
      </a:accent3>
      <a:accent4>
        <a:srgbClr val="5B6B73"/>
      </a:accent4>
      <a:accent5>
        <a:srgbClr val="0B5C60"/>
      </a:accent5>
      <a:accent6>
        <a:srgbClr val="E3F1EF"/>
      </a:accent6>
      <a:hlink>
        <a:srgbClr val="159694"/>
      </a:hlink>
      <a:folHlink>
        <a:srgbClr val="0B5C60"/>
      </a:folHlink>
    </a:clrScheme>
    <a:fontScheme name="Superstore Retail Analytic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1FBB56C9-890D-421F-A3E0-F9D8D27F364D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7F4EE&quot;"/>
    <we:property name="bookmark" value="&quot;H4sIAAAAAAAAA+1ZW0/dRhD+K5GlKi+oWu99eQsQVWqTKErS9KFC1ezuLDg19pHtw1Xnv3dsnxAgEFNzCVErJMA7u7Nz+fbbGfssi0W7KOHkDRxgtpm9whZPsQj7WD1T2UZWjcMxcsudcYEHnZKR3jlL0nrRFXXVZptnWQfNHnYfi3YJZa+LBv/c3cgWDSlsDvENHo0y+l34oiy6k2yza5a4kUFZvoW9fkGCsqWBBTZtXUFZnOK4ph2nrjYyPF6UdQP9ru876LDf+ZCm0zNZmf8syCgIXXGI7zF046jQzglnQGkUANJFH3vb23HCYPy1U3rVw/bbddVBUdE2/Rhj0SRpXI6co0gmCs/78bao9sq1wV/WfjhZ9PFr94H+UsD8J9q217NakTss5j5qh1wy4MCTVsxM6ioOKFrX6ErWBSOM1yE5w2XkXE/q6vC48/Xx19py1v/wSMmm4ITgtZ3WdoNl3CmjgVtEFpOOUicm+rWpKLt1UP3Jy+NFQ5AhII26XsRDqALGbEg6oWjM8Vn2GqFdNkPmX14SvK+XTcB3mAZR1Q0Qy37DqjqF/RKrrLflbVMTvAbJi2H82Ra2HZblstpbT9mvj7YbJHDFbJOtdmnkm04HaOJadMlzemgiNlsng1c7RfMZkHzjiuEP7BG5QNMEMAJZiF45CxKYYUJOJmGborBXN0UYnLuch+26XB5UtzV6pzj4awe65cFVm1/TSe+uifvGIyLh94MWutNZyS+XFOsG4xiN7X1oulvCIL8Kg3sO6Gr3MxWS8NMFslsndTTonjfdHQ68NEKY4FBEsBC4goD5/AN/Tyb+CvvNN3F2v2B/h3v9nCtGXBj9fnB/3V/Vz36ag/dFcVh3H8CXeBXl10NtCFt7n0hbp5HA/a4+mqt5IjlrFFsvhHdokYH2nqDscO5Fr3jgIAN3YBzkFnJm/KQuGAK5tew6suprlUkpKsu0TgG8yHMW3HTtcIN5WnKX0BjOFLeGnhKLc297TfcLqiiNtaC59BEtf6qHfxLvbVkEbC45mR0gHZ/+nwgdDE4sxo0KHOV1HMQ4+HiWvSrI71H3RyiXvdrnW9gdIVbPe55eX9DXHqBhwYOcnyFXxprEmHApAUbOJJV6+glUZncgqCdUjX3xYkywQUuR1jlENMkrIaxScw+ZVRqU91KYXDrgIqqQZuuivoGj4TYyp6SImPNpnrtJFyjioSg9cZKRjhAlZ7cNloJExIvU2AgvfJCShbm6XLAoTYzCQci9QJD6rvwL1AhHIrkQBeeC57nTbC7/gtM5SuuEUUkLp7wLs/nX20ThD5ASF2hAO6XwqfLvQxVfMzuNRzDij7p/tdLB3v+l6N06r7Ko8N+0Ww/H8+c+PGrHdeke945HAV4RV8Y8xyS4l3ekNx8dY1SrSsNlymXIbfBPoDS4Q6v+dCqDC4gZQ+25D4ZHI6MzHuhxdiUftNJBOAc2TxKFT0ylybR9V7r5bjX4Dq2I9dEDF+G3ajVD8JxZFFHqXCnPpcLp8uSG+z8gVYVRMJ6CiojJ+1uUmTe+B47OCgkiMOpdMYIzeQqPjCcKW1z+3V0N4Tmp/ucgNR2QEVXRU29noglKylzmJkpQj5y7O9RAP84HgKf3DvhihB+1Krm48WcQxjzlGhJPRCBJG4fTpckN1IZWC6E4SEARuHVEbm7uRZkYsRkICFHminmku3Ja17dLpmRtbhj3MejIUxIi4PR5e3iY/4JHRfWjf9o6d2KAVS+8jrrrZdcuIOBbqPAaCqcAQxUxTtD48Bn6nMFXq38AVLkXoCQfAAA=&quot;"/>
    <we:property name="creatorSessionId" value="&quot;eef5e8df-9fe0-4b10-a9a1-9a4cec555ae3&quot;"/>
    <we:property name="creatorTenantId" value="&quot;7db25319-c04d-4699-88f4-84306cdd3f56&quot;"/>
    <we:property name="creatorUserId" value="&quot;1003200556EECD41&quot;"/>
    <we:property name="datasetId" value="&quot;065f1089-beae-4d15-867c-ce1ad185923f&quot;"/>
    <we:property name="embedUrl" value="&quot;/reportEmbed?reportId=0ee71613-0907-4dad-976e-fa5a16c6b1e5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+1ZW0/dOBD+K1WkVV/QynfHvHGpVtqWtoJu92GFqrE9hnRDcpTkcBX/fSfJoQUKDXu4lGpXSEDG9ngunz/PJGdZLNpZCSdv4QCz1ewNtniKRdjH6oXOVrJqFK+/e/d6a2379ae3a1uvSFzPuqKu2mz1LOug2cPuY9HOoeyVkPCv3ZVs1pCm5hDf4tE4Rr8LX5RFd5Ktds0cVzIoy/ew1y9IULYkmGHT1hWUxSmOa9px6vlKhsezsm6g33Wngw77nQ9pOj2TefxXSUZB6IpD3MHQjVJpnJPOgjYoAZSLPuY0rR0nDMbfOKVXPWy/UVcdFBVt08sYizYp6zgKgTLZKL3o5W1R7ZULg7+u/XAy6wPX7gP9pYD5z7Rtr+f8nNxhkftoHArFQIBIRjM7qas4oGjdoCvlLlhpvQnJWaGiEGZSV4fHna+Pv9XGWf8jYkqWghOCN/m0tlssE05bAyJHZDGZqExisl+birJbBNWfvDqeNQQZAtKoay0eQhUwZkPSCUVjjs+yLYR23gyZf3VlYKeeNwG3MQ1DVTdALHuNVXUK+yVWWW/L+6YmeA0ja4P8xTq2HZblvNpbTNmvjzYaJHDFbJWd75Lku04HaOJi6Irn9NBEbNZPBq82i+YCkGLlmuGP7BG5QNMkMAJZiF67HBQwy6SaTMIGRWGvboowOHc1Dxt1OT+o7mr0ZnHwaRO6+cF1m7fopHc3xH3lCZHwx0EL3elSyS/nFOsG4xiNjX1oujvCgF+HwQMH9Hz3ggpp8PMlslskdTTogTfdHQ68slLa4FBGyCEIDQH58gf+gUz8Hfab7+LsYcG+jXv9nGtGXJL+OLhv9Vf1i1+WwfusOKy7D+BLvI7ym6E2hK19SKQt0kjg3q6PltU8kZwFinMvpXeYIwPjPUHZ4bIXvRZBgArCgXXAc+DM+kldMARyfd51ZNW3KpPWMQpjUgAvOWfBTdcOt5hnlHAJrRVMi9zSU2Jx2dve0P2COiqb52CE8hFz8VwP/yTe27II2FxxMjtAOj79PxE6GJyYjRsVOI7XcRjGwcez7E1Bfo+6P0I579W+XMfuCLF62fP04oK+8QANCx7l/Ay5srlNjEmXEmAUTFGpZ55BZXYPgnpG1dhXL8YEW8wp0oZDRJu8ljLXetlDlmsD2nslLVcOhIw6pKV1Ud8g0Io8MqeVjMjFNM/dpgs08VBUnjjJKkeIUku3DTkFiYgXqbGRXvqgFAvL6nIhR2VjlA4C9xJBmfvyL5iUIpFciFIIKTh3hi3Lv+AMR5U7aXUy0mnvwtL86/NE4Q+QkpBowTit8bny72MVX0t2Gk9gxJ91/06lg73/S9H7dV5lUeG/abcej+e/+PCkHdeVe9w7ESV4TVwZOcckhVf3pDcfHWNUqyorVOIq8Dz4Z1Aa3KNVfz6VwSXEjKH2wgcrolXRWQ/0uHQlH4w2QToHOU8KpU9Mp8m0/VC6+WE1+CatiPXRIxfhd2o1Q/CC5SijMlxrL5TG6fLklvs/IFWFUTKRgo6Iyfs7lJm3vgeOLpcKZGDUu2IEZ3kKT4wnCluc/91dD+EXUv3PQWo6ICOqoqfezkYbtFJccRsV6CfO3T1qoJ/nA8Dzewd8OcJPWpVc3vgChJEnbiCJRASSjHU4XZrcQm2YGym1AAUog8gdkZtb9qJMjNgMJISouGYe6a6c1vX9kinlObdM+BhMFClJGXD6vD0+zH/Do6L62T9tfXFigFU/eBN11/OunUHA91DhDRROAYYqYpyg8f5bczbscdh/rC6naP9i/sK2fwCnbEX1TB8AAA==&quot;"/>
    <we:property name="isFiltersActionButtonVisible" value="true"/>
    <we:property name="isVisualContainerHeaderHidden" value="false"/>
    <we:property name="pageDisplayName" value="&quot;Übersicht&quot;"/>
    <we:property name="pageName" value="&quot;3699397a56e3aa49dbd8&quot;"/>
    <we:property name="reportEmbeddedTime" value="&quot;2026-10-20T08:00:48.874Z&quot;"/>
    <we:property name="reportName" value="&quot;Superstore_8&quot;"/>
    <we:property name="reportState" value="&quot;CONNECTED&quot;"/>
    <we:property name="reportUrl" value="&quot;/links/tPXhKF0OIk?ctid=7db25319-c04d-4699-88f4-84306cdd3f56&amp;bookmarkGuid=7183ca13-3f1e-4936-b0dc-3478daacdf90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4E958A3-F9C0-4DDA-8693-70CB6F96A426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7F4EE&quot;"/>
    <we:property name="bookmark" value="&quot;H4sIAAAAAAAAA+1aWU8cRxD+K2ikyC8k6mP64s2AEyk+ZJnILxGyqrurYexhZjMHhxH/3TUzxMYLy9qLwRuUfVjNVvdU111fF5xnsWhnJZy9giPMtrIX2OJHLMIhVhsq28yqiewANYJUDPJkTMqTzB2t1rOuqKs22zrPOmgOsHtbtD2UAy8i/r2/mc0aYtgc4ys8mdbou/BFWXRn2VbX9LiZQVm+hoPhhQRlS4QZNm1dQVl8xOmddtp6sZnh6aysGxhO3eugw+HkY9pOv0lK/pskoSB0xTHuYegmKgRm0MaoGMulNBCFMrStnTaMwt+4ZWA9Hr9TVx0UFR0z0BjTORNcY67IHClw9Gqgp6LsLrf4s2ens4YMQGY5mw322yFZD+qmCFBmoxZklkno82ynLvuj8enZV/S9um8CvsE0LlXdaLJstzh697qpY/+hyy7IIvRM9hqXLg85G+mH9clOg0SJ2Ra72CdKW1QH5aVFvyj31yRgWxYBm8Gl/j0ZZlTjCMmlw0OEDkZtZtNhBU7rdRyXcVT2PHtRkAEm3m+h7Ae2T3bpjVifVE9IKPrsD6JNDiLB319xwfhGO55yHwahg2mNBSM0KGUYWItaeO/4wOxW0xRHFJ1fWWbkJUA5sDrJJHzEEAQmsZQXjApv911HKl1jKaVDZkBYxwKTlGdCr0lo7fX+11vCa/OzNE/jMVSBqPOivERo+wa/VZbnWFUf4bDEal6UP/CkqKpVYjyUfUt2xLgNzc4hNN3XHqAfTcRm+2y07m7R/FtBxOacyD9el4v9BWnx2eg/NDHm3Dklh1TeS6ly47nmJqFNyT9w9L3Bg2HPnLRXqD8v7J6O9I1tpBAqy746wJ8t0Rvs6A2s/ulraoSPIh/mVbqvtFgSZ1M+5Ewxx5TXykXjRMohl0sLfHsIsxuaBWUV1yJw451JkjCDdumOzUJZYyNj0QjhjCF0hrg8XRdG5ffbcBe6/mjehH/CYbNO8GMbuxPEe0Yft1liCiXlfKKiGnzIU4pUZ4ULK4cSUJFmmOcs5pFLiCnByry8cTmGlAwwqYzxqPR6AI41ARsvh1vNxi93qq6TTb6nwPJ7K7Bf9HlgxHENbWgrY6BMiMEoQWXWSe3WG2088jvUN/VEHVHn6HJHSBEsc1rm7IG99ryvIl4DtHhwhFW3rleT9ShZ/ylw2oEv8dnp9Z5l8pADBsWlBc+jTBDcHaGUCYmu3hads0ClCKRJdinLBWMBg8JrLaRkYAC8QOVXHjEYAgsOA0Tp0WBUQPVyVV7WEDfnhLeolBcmGW5Xh4vrEycBmni5tH63l9HwXnCQ1qVhQmSlNBzypU7s8LTz9Q3Rb6Oi6wPnSfvAtQk69+vgxjsMZdbHf1emMcOKY0F6wXwSgdBJsDxny8Hx/Zv6LTYDspzVbTE2/seQOYt0unQEVa4kmRBJo4qGK+Fx1TIIPASqzgiC060eQrpDSQUJUnCjtA7GcG4Ns8vbxsLMBm11CFLFINRwJdPMrS5ZtNz66JINIgcltL/zuAHQOCGILaM0kDFxy5cru+DaGXMZNHqH1NFYit6RV1dVNfpE8jDqkQ6lGP4qk4cHRKS/w4fuHYXvB+jTNVB6WMw2Xtbxpuz8H5Y+Mlgag2MxTzqPznhjU8RviOmFxQB5Ml4GRTDXYdRJA19eDBZkG6JnKJhi0VvnlLBB8jXoY3cZraxP57o6UJmMHWzUmltqLcJIBVTRV3XcwAAI8OUhGUTDRa6XI8cFZTLJ5AjAOJLOiRg5Mh1X5gVJMM0plLjVVH2Fj8t1vJHXyO6maUndd+0MAr6GCm+YmlBIQhUxZrdPTsb/J/g8NLm4+ASOajxd7SAAAA==&quot;"/>
    <we:property name="creatorSessionId" value="&quot;c2189c43-27a9-465b-aeec-69e27554448e&quot;"/>
    <we:property name="creatorTenantId" value="&quot;7db25319-c04d-4699-88f4-84306cdd3f56&quot;"/>
    <we:property name="creatorUserId" value="&quot;1003200556EECD41&quot;"/>
    <we:property name="datasetId" value="&quot;065f1089-beae-4d15-867c-ce1ad185923f&quot;"/>
    <we:property name="embedUrl" value="&quot;/reportEmbed?reportId=0ee71613-0907-4dad-976e-fa5a16c6b1e5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WU/cSBD+K8jSKi/sqg/3xRvXrrSEJIJVXlYoqu6uBifGnrU9HEH89y3bJCHAMMkQyCxaHpCnul1dd31dMxdZLNpJCeev4BiztewltvgRi3CE1YrKVrNqJG+8fr2zu7638+7V+u42ketJV9RVm61dZB00h9i9LdoplD0TIv59sJpNGuLUnOArPB3X6H/hi7LozrO1rpniagZl+QYO+xcSlC0RJti0dQVl8RHHd9px6+VqhmeTsm6gP3W/gw77k09oO30m8fhvkoSC0BUnuI+hG6kQmEEbo2Isl9JAFMrQtnbcMAh/55ae9XD8Zl11UFR0TE9jTOdMcI25UgxS4OhVT09F2V1t8efbZ5OGDEBmOZ/0htskWQ/rpghQZoMWZJZR6Itssy6nx8PT9lf0/XraBNzDNCxV3WCybKs4fvemqeP0Q5ddkkXomew1LF0dcj7Qj+rTzQaJErM1dnlAlLaoDssri35R7q9RwLYsAja9S/17MsygxjGSS/uHCB0M2kzGwwoc1+s4LOOg7EX2siADjLzfQjnt2b7YojdifVq9IKHo76AXbXQQCf7+mguGN9rhlMcwCB1MaywYoUEpw8Ba1MJ7x3tm95qmOKbo/MoyAy8ByoHVSSbhI4YgMIm5vGBQeGPadaTSLZZSOmQGhHUsMGlMEnpJQmt/6n+9J7xWP0uzHk+gCkS9KcouQjtt8Ftl2cGq+ghHJVY3RfkDT4uqWiTGQzltyY4YN6DZPIKm+9oD9KGJ2GycD9bdKppPFUSs3hD5x+tyeTAjLT4b/Ycmxg13jskhlfdSqtx4rrlJaFPyTxx9e3jY77kh7TXqzwu79YG+soEUQmU5rQ7xZ0u0hx29gdU/05oa4bPIh5sqPVZazImzMR9ypphjymvlonEi5ZDLuQW+PYLJHc2CsoprEbjxziRJmEG79MBmoayxkbFohHDGaATE+ek6Myq/34Zb0E2Pb5rwTzhqlgl+bGB3ivjI6OM+S4yhpJxPVFSDD3lKkeqscGHhUAIq0gzznMU8cgkxJViYlzcux5CSASaVMR6VXg7AsSRgY7e/1az88qDqOtrkewosf7QC+0WfJ0Yct9CGtjIGyoQYjBJUZp3UbrnRxjO/Q31TT9QRdY4ud4QUwTKnZc6e2Gs70yriLUCLh8dYdct6NVmOkvWfAqcd+BK3z273LJOHHDAoLi14HmWC4B4IpUxIdPW26JwFKkUgTbJzWc4YCxgUXmshJQMD4AUqv/CIwRBYcBggSo8GowKql4vysoa4OSe8RaW8MMlwuzhcXJ44CdDEq6Xlu70MhveCg7Qu9RMiK6XhkM91Yodnna/viH4bFV0fOE/aB65N0LlfBjc+YCizPP67No3pVxwL0gvmkwiEToLlOZsPjh/f1G+x6ZHlpG6LofE/h8yZpdOVI6hyJcmESBpVNFwJj4uWQeAhUHVGEJxu9RDSA0oqSJCCG6V1MIZza5id3zZmZjZoq0OQKgah+iuZZm5xyaLl1keXbBA5KKH9g8cNgMYJQWwZpYGMiVs+X9kZ186Yy6DRO6SOxlL0jry6qKrRJ5KHUY90KEX/rUwenhCR/g4funcUvh9gmm6B0qNisrJbx7uy839Y+sxgaQyOxTzpPDrjjU0RvyGmZxYD5Ml4GRTBXIdRJw18fjGYkW2InqFgikVvnVPCBsmXoI89ZLSyPJ3r+kBlNHawUWtuqbUIIxVQRV/UcT0DIMCXh2QQDRe5no8cZ5TJJJMjAONIOidi5Mh0XJgXJME0p1DiVlP1FT7O1/FOXgO7u6Yl9bRrJxDwDVR4x9SEQhKqiDG7f3LS/2ggG8446X91UM6btHzaP047Lv8FA9JerxUhAAA=&quot;"/>
    <we:property name="isFiltersActionButtonVisible" value="true"/>
    <we:property name="isVisualContainerHeaderHidden" value="false"/>
    <we:property name="pageDisplayName" value="&quot;Gewinn &amp; Retouren&quot;"/>
    <we:property name="pageName" value="&quot;ac07e8dd5004337ad257&quot;"/>
    <we:property name="reportEmbeddedTime" value="&quot;2026-10-20T08:07:49.248Z&quot;"/>
    <we:property name="reportName" value="&quot;Superstore_8&quot;"/>
    <we:property name="reportState" value="&quot;CONNECTED&quot;"/>
    <we:property name="reportUrl" value="&quot;/links/tPXhKF0OIk?ctid=7db25319-c04d-4699-88f4-84306cdd3f56&amp;bookmarkGuid=b1dccec6-0a17-40c9-834a-8fbb35673322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8F21F12D-77D3-4130-8FD0-88AA94E50A73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7F4EE&quot;"/>
    <we:property name="bookmark" value="&quot;H4sIAAAAAAAAA+1Z224btxb9FWGAg74YBe+XPBRonPQAp00RJGleCqPYJDftiUczOjOUHSfwf/Rj+tYf654ZNxfXsmIVTmy0hmBJJGdzcV/Xpt5WqR5WDZz9CEusHlQ/4IBvsI5H2C50tVe187AFbmwAa2ICF7n1IXGa7Val7tqhevC2KtAfYnlZD2toRlk0+PPBXrXqSWB/gj/i6TxH/+tQN3U5qx6Ufo17FTTNUzgcH8jQDDSwwn7oWmjqNzg/M8xLz/cqfL1quh7GXZ8XKDjufELL6Tuh5F9LAgWx1Cf4HGOZR73JTqYEjFsXkgDmg6dlw7xgAn/lklH0tP1+1xaoW9pmHGMyZsEhRhkNei2FdzCO57opF0vC2ePXq54UQGo5W4362yesh11fR2iq6RSklhn022q/a9bL6dPjj8afd+s+4jPM01RbJpVV38Fx+eUl9sewztU5qeRp35HCprlnEKCU4waGAae5o+50v0faO1UP2PneOzjfphNoI41exvIEYVj3+Klgvse2fQNHDbaXofz+6+Kn5QDlzeIVLp6X33+Lx18e0RNsD3EE9LQb6sk7viykJ2PMLP5zBYoDGhnq9rC5iID3zvhiBlcgNPj49RiD4RV58uh356McplgWkaEy0QWZMqfX+PS10uolBeAVsrTVBrnNiXnGgCXvxFZZBV+X0F2FzDOftYoUaUwYnSJF0WcMnEf18hfSfVofl8t2uNjkbBdDDE0dsf/otNUSya7jhwQFptOs5s1qnOe7NE3jdNi31Q81KWCW/RKa9Sj2q0f0ROpO268IFP0djNDmzEbAX32Qu6YnhmmX21DIwWQ7zqNJFg3jKIw0AXyOWz0BJpAP16UQjL+4AxfSZJaUzdGjz9xFm3Z1VG6ytZiUhOwFd4Le2a6ypLdMG59SchykC87OxtpFluLOiCissdx5BihyUp/Z5Z/h4Z+J7sNK8X70H+XvW7QxO7uS5D/SSsmFIVJgONGCzVa7YEgZk4agcqSHckaWYnKkpTtW/y/ABh5d1FnbGFwM2npj5Xuwt1/4CH+zHsrqogwP/1935XrE0oE2PCqljJOGGGjS/HMi/kT2sDV8GuKR++PZscc0W36/W4Zu/wj68nECoS99wv7h2eRmj+r+T0bL9y4d5tY86PxgQxC+KxA3D8MbbH8RjgBjDGabLVqbjUwhbE2id8eHt7pEhD5dTH2a/cVl+9/6meZ0rDDHYL33WkcNVNuk8nfAELPTTFAXyzFG6XVKHWzBcs/Ncf3JZqPobJ3lDIlMg+XCUmbczveHI1hdQVeMB4EUZooFYZUKOaS8u4FvXp0fQVkvLyvhf3DU3yWi8hDLKeIt85TrNDFnRQMhKklV3Hgkxuu1k/lvMnIDmAMYDV4wZoBLprYz8utFWud9tDomQbmCu6wi6l2903HCk7ME5DmmQEUhbO9BNsly1DAEDtZzrtB6bebm499LnA+h/JeyTbsTzYmXKM4N2M3tpdN3x7kTtMYzkaSR2gnmtBHGOf53o82rFBJSvKFlGSKwgDu3rh50cAIzk9moCInF+e7nPkXIF+2k70egruqTrrwYLxPvQ3hONtulpt4kOveqZ93prV4w+ERFMTl0HEPSRrno3K6VDIiFZ+FTVNqiM1wZI7fK2nhHCw4NtdngLKiUGEL0O1/KQZDaS0F5yCSXknGUlXaVFSBrSUmNDuis0pCc2Y5rg8aidQYhcCuTy2a65PO74kpSKSet02iQ6dGkebv2N+BKNnphU8zJ6KSRR6l2zt7JiWQTY0wJR1zesJS285v7c4tyh3q0DUeaGwNkAqifIgIMZvwRxcEnNGcbTJoZMQYURnmQCiJarcwdMOmctRcB68WcSBffCLbTT1p3yKgbDzWbNcegZVJB52gsNyAkbM/fV5p1suxVDWq3LsOKrPwUWryiUSVjQpswVdc3q9MP6u8a1fPzPwD61rIp7h8AAA==&quot;"/>
    <we:property name="creatorSessionId" value="&quot;99002465-a390-4d57-9cb5-0a1a3f36cf7a&quot;"/>
    <we:property name="creatorTenantId" value="&quot;7db25319-c04d-4699-88f4-84306cdd3f56&quot;"/>
    <we:property name="creatorUserId" value="&quot;1003200556EECD41&quot;"/>
    <we:property name="datasetId" value="&quot;065f1089-beae-4d15-867c-ce1ad185923f&quot;"/>
    <we:property name="embedUrl" value="&quot;/reportEmbed?reportId=0ee71613-0907-4dad-976e-fa5a16c6b1e5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+1Z224URxD9ldVIES9W1D195yESGBIpYIIM4SWyUHV3tT14dmYz02tjkP8jH5M3fiw1M+bmeL14kcFWslrtpS/Vp+5VPW+LWPWLGk6ewByLu8Vj7PENVuEAm5kqtopmGr7/22+Pdu7tPnr55N7OQxpuF7lqm764+7bI0O1jflH1S6gHIjT4x95WseiIUneET/B4mqPPyld1lU+Ku7lb4lYBdf0U9ocNCeqeBhbY9W0DdfUGpz39tPR0q8DXi7rtYDj1WYaMw8lHtJz+Ezz+oyBQEHJ1hM8w5GnU6WRFjMC4sT6WwJx3tKyfFozgL1wykB6P326bDFVDxwxjTIRUcghBBI1OidJZGMZTVeezJf7k4etFRwIgsZwsBsFtE9b9tqsC1MXIBYllAv222G7r5Xz89fCz8Wftsgu4i2mcavIosuJnOMwvX2B3CMtUnJJInnYtCWyc2wUPOR/W0Pc4zh20x9sd0tmxuMtOtz7AuRePoAk0eh7LDkK/7PBLwTzCpnkDBzU256G8+2v2+7yH/Gb2CmfP8ru/w+H3R7SDzT4OgJ62fTVax/eFtDP4zOyHC1Ds0UhfNfv1mQd8NMbnE7gMvsaHrwcf9K/Ikge7Ox3oMMlSGRhKHawXMXF6D7svpVbNyQEvoKWM0shNiswxBiw6W66llfF19u1FyBxzSclAnsZKrWIgL/qGjvOgmr8k2cflYT6vh7NDTjZRRF9XAbvPuC3mSHodfkTIMHKzmA6rcJpv4ziNI7Nvi8cVCWCi/QLq5UD2zgPaEdvj5g6BotfeAG2KbAT81Sexa9zRj6dch0D2Rt1xHnQ0qBnHUgvtwaWw1hJgBHl/mTPB+Jc58FLoxKI0KTh0idtg4qaGynUyBqMUkFzJbUnfbFNawhmmtIsxWg7CemsmZW1CS3Kry1Aabbh1DLBMUX5jk9/F/feB7tNM8XH0P2Xva6QxGbsUZD/CCMFLTUWB5lQWrNbaWWmUMCrwMgXalBKyGKIlKd2w/H8G1vNgg0rKBG+DV8ZpIz6Cvf7ER/jrZZ8XZ2m4/3PZ5ssRCwtK8yCl1FbowE1U/Fsi/sLqYa371FRHbg+8Y4dx0vx2O/ft9gF0+fMAQn+6iN39k9HMHlTd+4qWb51j5tos6HRvhRN+SBBXd8MrHH/mjgCDDyaTDBqTtIjerw2iN8eG15pEgC6eTX2Z/svz+r92nqZwLDEFb5xzSgUFlNuEdDdAEZPRjFBn88FH6X1MrWvGfMvVcTlnk1JUMtZwhlRMg+Gloci4vt7vD2BxQbmiHZRIbiaZL42UPvmYNlfw1bPzA8jL+Xkh/AoH3U0qVO5jPka85jrlMklMUVGDD1JQFtcOqeJ1yor0lRW5BkwetAJXMqaBCybXV+SXkzTWuWBUiCXFCm6TDKg2tU7LCU9KApCnED0lBb++B1lFy1LD4DkYx7lE45Semo//L3E+hfILRZtmozInnCtxrlDdXF84/cDOjShrHCuj0ELZklmlS20t/1pvczL6iORvaFiCAMzjxq2rA+VtiYmJpGWAyMJ093ObPOS7dtK3w1EX1VGbnw+XibfBPUedbZJTr+KdW8Vue3ytFwwuUlKMFi1HH5WWNli7aSYDqsJT6WKQyqDVXGot1tJaeUcLFjW12WANyBgZQnAbX8qBF8qJkuKQjjZGbSkqbUrLQ1KCghoxaI1UEK1ej2uFxIKxGsFzI6JNerzkc5viikJKK4xVqJGpQaVpvfRX4IomuNLEkKJWUSEPQm4cvaMto4mMMVlaquU1i3F9fXN7blFuUI+2gqWpMUBWAvVTVACDHh6iWPiC5myFShOjigFLLR0ICQGNkvoGqHSK2jOP1WwKpLOfSrbRI60bpNSVTE1qTcErEaVXKWjDNZQC1sfvC9U6avaiBrVd5n5BWn4KDV7QqJIyoYkYi8ub1eGpeTGecTQ8dq/XNbfv10+J6vQfNkiLmRYgAAA=&quot;"/>
    <we:property name="isFiltersActionButtonVisible" value="true"/>
    <we:property name="isVisualContainerHeaderHidden" value="false"/>
    <we:property name="pageDisplayName" value="&quot;Rabatt &amp; Profitabilität&quot;"/>
    <we:property name="pageName" value="&quot;96f83dda0178bd2a09b9&quot;"/>
    <we:property name="reportEmbeddedTime" value="&quot;2026-10-20T08:10:02.636Z&quot;"/>
    <we:property name="reportName" value="&quot;Superstore_8&quot;"/>
    <we:property name="reportState" value="&quot;CONNECTED&quot;"/>
    <we:property name="reportUrl" value="&quot;/links/tPXhKF0OIk?ctid=7db25319-c04d-4699-88f4-84306cdd3f56&amp;bookmarkGuid=380e76e9-83f0-450b-aeab-ec518e705b0d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661A5B3C-9117-4A78-BDAA-5773E3AC3BF0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7F4EE&quot;"/>
    <we:property name="bookmark" value="&quot;H4sIAAAAAAAAA+VZW08cNxT+K2ikKi+ryvcLD5USoFXbpEKkTR4qVB3bxzDpMrudmQ037X/vmRlIUsJmyCBI1LwA9tjH3/l8ruaySGWznMP5b3CCxXbxHBu8wDIeY7Wli1lRDdPWo3eOeeCCyZilABvo62LZlouqKbYvixbqI2xflc0K5p0smvzzcFYsaxJYv8Xf8HT4Rj/LUM7L9rzYbusVzgqYz/fhqNuQYd7QxBLrZlHBvLzAYU8zLF3PCjxbzhc1dKe+bKHF7uS3tJzGhJJ/LwkUxLZ8iy8xtsOs1twkLSQLCRJY5xLvNGuGBT34W5d0ovvjdxZVC2VFx3RzzAjrOdM2GqIjYrKBdfNNWR3NrwC/3/v7+bLjrzkG+k2EhTd0bCdnvSZ1mGWeWRNRs5jBZSNYHpVVnhBbt8kSDnl0PDtrjBdcaTcqq8WzNizOPpbGpZc2g4+QhcdkUIpxLTcg4wZszkEwZ6JUUqjAfLc3l/P2itRwvne2rMlkLq8tLmPOkltnEZ1EkaPXnES3w0k7dPdHi7qMhGJ2JaiT8+raFsSs+LFenPQSr0w70cq9qu0tr9gtT/46wKNu7awY4LM12evrY6yx30W3nsrBhC6Ln/ufHUZsmsFq+iXz1cmNL93o5WJVRzzA/H7Qn9+RsV8vyL57DFfnr7tzX8F81fsMiX1ekjYDvf00LX2yg1VLc0+61YfE6uHgDB8ceicwt+m/CdWsOF6c7tRIVKdim69nl9fsP01voSLLL25ieIHQrGq8K4hfsaou4HiOH4F4WrVYzrf2F01/BRSMDiBA2279INh3H2FjPR2fNM0IdbrFMq00nsxRODBOWh0sk1N9meccBXc2aJ4TKml9TJut/NGY/AlPy6raClg+DIXSBtLXhZQDQ60lM9ZPDzvSWyVsVrmLwcnbzFWaLk0xpjhYAV5lbUxmToupQUwxUBpNDF4jz9IFFHGyLIfSUabRGFWWWWTJJgdX7YDCc8iR8UCsmaDjuAlDn/qerdq2j383RSZhgyBYXJholWM2jWeSTfCSy054LrS3lFAkcxlHveK/0f1Rwxx71DB3gC3tqEoaYr31x0kD7cUXhvS5kfcxsd05lj3+HWL1z2pB9eiXxfKiK8K3JkX3FsIc924EURrUCetn57137pb1dVFN5dXeQ6tAmLsAgj5KHZzCwEXWOoM094xvhglhI0sMXQA0ggrM8ZC5Ib4ZqrJjF3NzAJWAJa/GZW1MWEY74yL4wA2TyFDYpKfWI8bnnJ031F5kNAqzh3HiNmnZ5T7GIhXvxiAlZeXHE+lmLTPdo5PZpwBUMCWW02RkVCYY6g5sdiZTg9Hxxqcy5qJ3TEWeUQSuqTUTAFNleSnRcq2tZTrq6KQ2YrTnSUwp5iLdPEjQUghFtdS32/O8xqb9VhqeO1YCE4r0LxDDNygzBHSfZDLG+SSk5wG5vnprecSKkKCm1d/tTdhXh5xP4b2Zl5Hc8UPmixOkVNb9kaCFXpvlcFiJw/dF6j9jr+ztPrBLO9LitOr84JrB4YGLgL/54AnrnTM9DCGHfVQDRhlKY7bKZ8UT8yZNbqiCoHYRKa9ESncIFLv5J16FvobO4H9uBCNsDBYQEqOcTe0cyBRQJ0tFymQLyAJkSEIHixBpADD59SWKqDPPQVD2Jvs0zkk2ak0bw/rnk7cL7erkJne/wHH9NdnRM2xPER/YjD7FxGBDUXrtsqL7isxq78ClezzyRNU9Lufss3HcxqRFHH+Y2SgtOSrUQMXEUQqFuntWmWrfyFTKMhhuGZdUPxvDJj8ZoU2ZnE1GCrpOp6ioRr1nG5Q1i13tzBldAJOKGTX+CrWRuK69CNZQu6YgghWMJ3UvgL3U2xxgsWqbJUTchwpvcQRyAKgSphFn6P/X9M4R1ut/ASafrmAJGwAA&quot;"/>
    <we:property name="creatorSessionId" value="&quot;926a3f0e-8eda-4032-859c-e621578d2e15&quot;"/>
    <we:property name="creatorTenantId" value="&quot;7db25319-c04d-4699-88f4-84306cdd3f56&quot;"/>
    <we:property name="creatorUserId" value="&quot;1003200556EECD41&quot;"/>
    <we:property name="datasetId" value="&quot;065f1089-beae-4d15-867c-ce1ad185923f&quot;"/>
    <we:property name="embedUrl" value="&quot;/reportEmbed?reportId=0ee71613-0907-4dad-976e-fa5a16c6b1e5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+VZWW/cNhD+K4aAIi+LgvfhhwK+WrSJE8Npk4fCCHgMbaWyditpfcL/vUPJblLHGzky7ATNy+6KImc+fpyTe1nEsl1U7vylO4ZivXgBLVxAGY6gXpPFrKiH4c1Xr57vbuw/f/dyY3cHh+eLrpzXbbF+WXSuOYTuTdkuXZWF4OCfB7Ni0aCk5gRewunwDj9LX1Zld16sd80SZoWrqj13mBckV7U4sICmndeuKi9gWNMOU69mBZwtqnnjstbXnesgaz7B6fiM8OiPHEG50JUn8BpCN4xKSVWUjBMfXXTamEjzltphQg/+zilZdK9+a153rqxRTR4jimlLidRBWUcDRO1JHm/L+rC6Bvxh7e/ni0xce+TwGwnz71FtlnN1hdshmliiVQBJQnImKUbSqKzyGNm6SxYzQIOhyWilLKNCmlFZHZx1fn72qTTKLdfJ2eASsxAVcDa+yxXIqHI6Jc+IUYELzoQnNq9NZdVdk+rPd84WDZrM5Y2pJUiJU200gOHAUrCSouhu0LSFZ384b8qAKGbXgrKcNze2wGbFz838uJd4bdMRZ+7UXW95xXZ5/G4fDvPcWTHAJ1dor2+PoIF+FZ56LAcTuix+7T8zRmjbwWr6KdXy+Nab/PR6vmwC7EP68NDrz2TsNXO07x7Dtf6rrPeNq5a9z6DYFyXuZqC3H8apz7ag7nDsWZ59gKweDM7wkdJ7gblr/6tQzYqj+elWA0h1LNbp1ezyhv2NeOJqtPziNoZdcO2ygfuCeA51feGOKvgExEbdQVmt7c3b/ggwCu0777pu7SdGfvgEG+np+KxpBtfEOyxTc2XRHJlxynAtvSZ8qi/TlAKjRntJUwTBtQ1xtZU/GZO/wGlZ12seysehkGuP+zU+Jk9ASk6UttPDDrdaMJ1EyjE4Wp2oiNOlCUIEdZo5K5JUKhEj2dQgJogTElTwVgJN3HhgYbIsA9xgppEQROKJJU4mB1dpHIZnnwKhHllTXoZxE3Z96ttcdl0f/26LjEx7hrAoU0ELQ3QczySr4EWTDLOUSasxoXBiEox6xX+j+5OGOfKkYW4fOlxRl/gIzdofx63rLr4ypC+NvE+J7d6x7OnPEOq/l3OsR78ult1chK9Niu6d8xXs3Aqi+NBEaDbPe+/cLpubohrLq53H3gJizgEEbODSGwGesiRlclw9ML4pwpgOJBIw3oFiWGCOh8wV8U1hlR1yzE3eiehItGJc1sqEpaRRJjjrqSIcCDAd5dR6RNmUkrEK24sESkCybpy4VbvMuY+QgMW7UoBJWdjxRLp6lwnP0fBko3dYMEWS4mRkWCYo7A50Miphg5F5o1MZM8EaIgJNwDyV2Jox56bKspyDplJqTWSQwXCp2GjPE4kQxAQ8eced5IwJrKW+357nLbTd99Lw3LMSmFCkf4UYvmIzQ0C3kUeljI2MW+qByuu7liesCBFqXP7V3YZ9reR8Cu9tVQZ0x4+ZL44BU1n+EV3n+t0sBmUlDO/nsX8N/Wbv9oFtXBHnp3X2gxsGhwsuBP7+oyusf53pcQg56KOaI5ihJCQtbBI0Eqvi5IbKM2wXAfNKwHQHDmM3/cyt0LfQGfzPjWCEjcECfCSYs7Gdczx6kFFjkTLZAhJz3EcmvQYX8MG5ybcvgQWZaPIMszfapzKGk1FrWhnWv5y8bdctj29z95s7ar4lO9qE7hTgkc3oc0wMNhS4lSYJPK9AtLTGmfiAS54g8uVySjYpQ3WIkoXxi5mV0qLBQs2JEClwJkDma5Wp9g1ExMS9oppQjvWzUmTylRHomNDZeMCga2QMAmvUB7ZBSZKQa2dK8AAIF0SJ8VuolcTl9sJrhe2acMFpRmgUDwLYS73LAebLrl24AHuuhjscAR3A1RHiiDPkP5SKXsdJ/keqGnOem/mDEV/9A5if7uQxGwAA&quot;"/>
    <we:property name="isFiltersActionButtonVisible" value="true"/>
    <we:property name="isVisualContainerHeaderHidden" value="false"/>
    <we:property name="pageDisplayName" value="&quot;Empfehlungen&quot;"/>
    <we:property name="pageName" value="&quot;5516d5230bdada788d15&quot;"/>
    <we:property name="reportEmbeddedTime" value="&quot;2026-10-20T08:12:49.369Z&quot;"/>
    <we:property name="reportName" value="&quot;Superstore_8&quot;"/>
    <we:property name="reportState" value="&quot;CONNECTED&quot;"/>
    <we:property name="reportUrl" value="&quot;/links/tPXhKF0OIk?ctid=7db25319-c04d-4699-88f4-84306cdd3f56&amp;bookmarkGuid=1a4f0d03-ea3d-4c94-9b84-c47d32dfb91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939</Words>
  <Application>Microsoft Office PowerPoint</Application>
  <PresentationFormat>Breitbild</PresentationFormat>
  <Paragraphs>180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4" baseType="lpstr">
      <vt:lpstr>Arial</vt:lpstr>
      <vt:lpstr>Calibri</vt:lpstr>
      <vt:lpstr>Superstore Retail Analytics</vt:lpstr>
      <vt:lpstr>PowerPoint-Präsentation</vt:lpstr>
      <vt:lpstr>Ausgangssituation &amp; Projektziele</vt:lpstr>
      <vt:lpstr>Datenbasis &amp; Analyseprozess</vt:lpstr>
      <vt:lpstr>KNIME: ETL &amp; Datenaufbereitung</vt:lpstr>
      <vt:lpstr>KNIME: Explorative Datenanalyse</vt:lpstr>
      <vt:lpstr>PowerPoint-Präsentation</vt:lpstr>
      <vt:lpstr>PowerPoint-Präsentation</vt:lpstr>
      <vt:lpstr>PowerPoint-Präsentation</vt:lpstr>
      <vt:lpstr>PowerPoint-Präsentation</vt:lpstr>
      <vt:lpstr>Maßnahmen, Grenzen &amp; Erfolgskontrolle</vt:lpstr>
      <vt:lpstr>PowerPoint-Präsentation</vt:lpstr>
    </vt:vector>
  </TitlesOfParts>
  <Company>IHK Data Analyst Abschlussprojekt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– Profitabilitätsanalyse je Verkaufsregion</dc:title>
  <dc:subject>PptxGenJS Presentation</dc:subject>
  <dc:creator>Gruppe 3: Mesut Karagöz, Erol, Vivien, Gözde</dc:creator>
  <cp:lastModifiedBy>Mesut Karagöz</cp:lastModifiedBy>
  <cp:revision>19</cp:revision>
  <dcterms:created xsi:type="dcterms:W3CDTF">2026-10-19T09:35:29Z</dcterms:created>
  <dcterms:modified xsi:type="dcterms:W3CDTF">2026-10-20T12:54:45Z</dcterms:modified>
</cp:coreProperties>
</file>